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★ </a:t>
            </a:r>
            <a:r>
              <a:rPr sz="24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8686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Funnel Display"/>
              </a:rPr>
              <a:t>Áreas de Atuação
&amp; Impacto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48056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Uma visão consolidada e detalhada de todas as frentes que conduzo hoje na companhia — do produto à infraestrutura, passando por dados, suporte, times e Customer Success.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libri"/>
              </a:rPr>
              <a:t>Renato · Tecnologia, Produto, Dados &amp; CS · Junho/2026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Seis frentes, uma operação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50" b="0">
                <a:solidFill>
                  <a:srgbClr val="6B7280"/>
                </a:solidFill>
                <a:latin typeface="Calibri"/>
              </a:rPr>
              <a:t>Cada frente equivale, no mercado, a um cargo de diretoria ou liderança — e por trás de cada uma há um líder em desenvolvimento.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34640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109728" cy="141732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999232"/>
            <a:ext cx="2999232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B2B2B"/>
                </a:solidFill>
                <a:latin typeface="Funnel Display"/>
              </a:rPr>
              <a:t>Produto · 5 OKRs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6B7280"/>
                </a:solidFill>
                <a:latin typeface="Calibri"/>
              </a:rPr>
              <a:t>Paciente, Profissional, RH (NR1) e Parcerias.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3" y="2834640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61103" y="2834640"/>
            <a:ext cx="109728" cy="141732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3" y="2999232"/>
            <a:ext cx="2999232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B2B2B"/>
                </a:solidFill>
                <a:latin typeface="Funnel Display"/>
              </a:rPr>
              <a:t>Engenharia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6B7280"/>
                </a:solidFill>
                <a:latin typeface="Calibri"/>
              </a:rPr>
              <a:t>Plataforma, segurança, IA e novos modelos de operação.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7" y="2834640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73567" y="2834640"/>
            <a:ext cx="109728" cy="141732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2999232"/>
            <a:ext cx="2999232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B2B2B"/>
                </a:solidFill>
                <a:latin typeface="Funnel Display"/>
              </a:rPr>
              <a:t>Dados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6B7280"/>
                </a:solidFill>
                <a:latin typeface="Calibri"/>
              </a:rPr>
              <a:t>Datalake e inteligência preditiva/prescritiva.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453128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453128"/>
            <a:ext cx="109728" cy="141732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617720"/>
            <a:ext cx="2999232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B2B2B"/>
                </a:solidFill>
                <a:latin typeface="Funnel Display"/>
              </a:rPr>
              <a:t>IT &amp; Suporte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6B7280"/>
                </a:solidFill>
                <a:latin typeface="Calibri"/>
              </a:rPr>
              <a:t>Tickets, integração com CS/Produto e custos.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1103" y="4453128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61103" y="4453128"/>
            <a:ext cx="109728" cy="141732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3" y="4617720"/>
            <a:ext cx="2999232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B2B2B"/>
                </a:solidFill>
                <a:latin typeface="Funnel Display"/>
              </a:rPr>
              <a:t>Principal Engineer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6B7280"/>
                </a:solidFill>
                <a:latin typeface="Calibri"/>
              </a:rPr>
              <a:t>Arquitetura, nuvem e fornecedores estratégicos.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567" y="4453128"/>
            <a:ext cx="3456432" cy="14173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73567" y="4453128"/>
            <a:ext cx="109728" cy="141732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4617720"/>
            <a:ext cx="2999232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B2B2B"/>
                </a:solidFill>
                <a:latin typeface="Funnel Display"/>
              </a:rPr>
              <a:t>Customer Success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6B7280"/>
                </a:solidFill>
                <a:latin typeface="Calibri"/>
              </a:rPr>
              <a:t>Estrutura, implantação e ciclo de vida do cliente.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1 · Produto · 5 OKRs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2B2B2B"/>
                </a:solidFill>
                <a:latin typeface="Funnel Display"/>
              </a:rPr>
              <a:t>Produto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B7280"/>
                </a:solidFill>
                <a:latin typeface="Calibri"/>
              </a:rPr>
              <a:t>Quatro frentes de produto + liderança — uma página dedicada para cada: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11091672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10634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Frentes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1188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0">
                <a:solidFill>
                  <a:srgbClr val="2B2B2B"/>
                </a:solidFill>
                <a:latin typeface="Calibri"/>
              </a:rPr>
              <a:t>Frente </a:t>
            </a:r>
            <a:r>
              <a:rPr sz="1600" b="1">
                <a:solidFill>
                  <a:srgbClr val="2B2B2B"/>
                </a:solidFill>
                <a:latin typeface="Calibri"/>
              </a:rPr>
              <a:t>Paciente</a:t>
            </a:r>
            <a:r>
              <a:rPr sz="1600" b="0">
                <a:solidFill>
                  <a:srgbClr val="2B2B2B"/>
                </a:solidFill>
                <a:latin typeface="Calibri"/>
              </a:rPr>
              <a:t> — jornada B2C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0">
                <a:solidFill>
                  <a:srgbClr val="2B2B2B"/>
                </a:solidFill>
                <a:latin typeface="Calibri"/>
              </a:rPr>
              <a:t>Frente </a:t>
            </a:r>
            <a:r>
              <a:rPr sz="1600" b="1">
                <a:solidFill>
                  <a:srgbClr val="2B2B2B"/>
                </a:solidFill>
                <a:latin typeface="Calibri"/>
              </a:rPr>
              <a:t>Profissional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0">
                <a:solidFill>
                  <a:srgbClr val="2B2B2B"/>
                </a:solidFill>
                <a:latin typeface="Calibri"/>
              </a:rPr>
              <a:t>Frente </a:t>
            </a:r>
            <a:r>
              <a:rPr sz="1600" b="1">
                <a:solidFill>
                  <a:srgbClr val="2B2B2B"/>
                </a:solidFill>
                <a:latin typeface="Calibri"/>
              </a:rPr>
              <a:t>RH</a:t>
            </a:r>
            <a:r>
              <a:rPr sz="1600" b="0">
                <a:solidFill>
                  <a:srgbClr val="2B2B2B"/>
                </a:solidFill>
                <a:latin typeface="Calibri"/>
              </a:rPr>
              <a:t> (NR1)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0">
                <a:solidFill>
                  <a:srgbClr val="2B2B2B"/>
                </a:solidFill>
                <a:latin typeface="Calibri"/>
              </a:rPr>
              <a:t>Frente </a:t>
            </a:r>
            <a:r>
              <a:rPr sz="1600" b="1">
                <a:solidFill>
                  <a:srgbClr val="2B2B2B"/>
                </a:solidFill>
                <a:latin typeface="Calibri"/>
              </a:rPr>
              <a:t>Parcerias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1">
                <a:solidFill>
                  <a:srgbClr val="2B2B2B"/>
                </a:solidFill>
                <a:latin typeface="Calibri"/>
              </a:rPr>
              <a:t>Liderança</a:t>
            </a:r>
            <a:r>
              <a:rPr sz="1600" b="0">
                <a:solidFill>
                  <a:srgbClr val="2B2B2B"/>
                </a:solidFill>
                <a:latin typeface="Calibri"/>
              </a:rPr>
              <a:t> de Produto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1 · Produto · Frente Paciente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Paciente — Jornada B2C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11091672" cy="36576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97479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Uso de múltiplos serviços — </a:t>
            </a:r>
            <a:r>
              <a:rPr sz="1300" b="1">
                <a:solidFill>
                  <a:srgbClr val="2B2B2B"/>
                </a:solidFill>
                <a:latin typeface="Calibri"/>
              </a:rPr>
              <a:t>Cross Service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Novo canal </a:t>
            </a:r>
            <a:r>
              <a:rPr sz="1300" b="1">
                <a:solidFill>
                  <a:srgbClr val="2B2B2B"/>
                </a:solidFill>
                <a:latin typeface="Calibri"/>
              </a:rPr>
              <a:t>WhatsApp</a:t>
            </a:r>
            <a:r>
              <a:rPr sz="1300" b="0">
                <a:solidFill>
                  <a:srgbClr val="2B2B2B"/>
                </a:solidFill>
                <a:latin typeface="Calibri"/>
              </a:rPr>
              <a:t> para pacientes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1">
                <a:solidFill>
                  <a:srgbClr val="2B2B2B"/>
                </a:solidFill>
                <a:latin typeface="Calibri"/>
              </a:rPr>
              <a:t>StarBrain</a:t>
            </a:r>
            <a:r>
              <a:rPr sz="1300" b="0">
                <a:solidFill>
                  <a:srgbClr val="2B2B2B"/>
                </a:solidFill>
                <a:latin typeface="Calibri"/>
              </a:rPr>
              <a:t> — Cérebro Central com visão unificada do paciente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1">
                <a:solidFill>
                  <a:srgbClr val="2B2B2B"/>
                </a:solidFill>
                <a:latin typeface="Calibri"/>
              </a:rPr>
              <a:t>Shapeme</a:t>
            </a:r>
            <a:r>
              <a:rPr sz="1300" b="0">
                <a:solidFill>
                  <a:srgbClr val="2B2B2B"/>
                </a:solidFill>
                <a:latin typeface="Calibri"/>
              </a:rPr>
              <a:t> — Jornada comercial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2697479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1">
                <a:solidFill>
                  <a:srgbClr val="2B2B2B"/>
                </a:solidFill>
                <a:latin typeface="Calibri"/>
              </a:rPr>
              <a:t>Shapeme</a:t>
            </a:r>
            <a:r>
              <a:rPr sz="1300" b="0">
                <a:solidFill>
                  <a:srgbClr val="2B2B2B"/>
                </a:solidFill>
                <a:latin typeface="Calibri"/>
              </a:rPr>
              <a:t> — Desenho da jornada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Evolução de jornada </a:t>
            </a:r>
            <a:r>
              <a:rPr sz="1300" b="1">
                <a:solidFill>
                  <a:srgbClr val="2B2B2B"/>
                </a:solidFill>
                <a:latin typeface="Calibri"/>
              </a:rPr>
              <a:t>B2C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Acompanhamento de faturamento e crescimento de B2C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1 · Produto · Frente Profissional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Profissional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11091672" cy="36576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97479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Correção e acompanhamento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videochamadas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Evolução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NPS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Pesquisa de qualidade de atendimento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Pesquisa de infraestrutura profissional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Gravação e transcrição de chamada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2697479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Construção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prontuário automatizado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Retroalimentação do cérebro central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Planejamento de serviços de automação para o profissional: cadastro, consumo mensal, notas fiscais etc.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Controle de agendas e faturamento </a:t>
            </a:r>
            <a:r>
              <a:rPr sz="1300" b="1">
                <a:solidFill>
                  <a:srgbClr val="2B2B2B"/>
                </a:solidFill>
                <a:latin typeface="Calibri"/>
              </a:rPr>
              <a:t>TP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Evolução e análise mensal de qualidade e melhorias para profissionais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1 · Produto · Frente RH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RH — NR1 &amp; Portal RH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11091672" cy="36576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97479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Construção/evolução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NR1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Construção/evolução do </a:t>
            </a:r>
            <a:r>
              <a:rPr sz="1300" b="1">
                <a:solidFill>
                  <a:srgbClr val="2B2B2B"/>
                </a:solidFill>
                <a:latin typeface="Calibri"/>
              </a:rPr>
              <a:t>Portal RH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Correção de problemas NR1 (Eduardo O.)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Planejamento e evolução do Portal RH para valor real ao RH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2697479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Definição </a:t>
            </a:r>
            <a:r>
              <a:rPr sz="1300" b="1">
                <a:solidFill>
                  <a:srgbClr val="2B2B2B"/>
                </a:solidFill>
                <a:latin typeface="Calibri"/>
              </a:rPr>
              <a:t>multi-tiers</a:t>
            </a:r>
            <a:r>
              <a:rPr sz="1300" b="0">
                <a:solidFill>
                  <a:srgbClr val="2B2B2B"/>
                </a:solidFill>
                <a:latin typeface="Calibri"/>
              </a:rPr>
              <a:t> de NR1 para múltiplas demandas de clientes (Produto de 1 a 4)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Reuniões comerciais com clientes — retirada de dúvidas sobre NR1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Evolução de dores em casos de falha de APIs em cliente B2B (</a:t>
            </a:r>
            <a:r>
              <a:rPr sz="1300" b="1">
                <a:solidFill>
                  <a:srgbClr val="2B2B2B"/>
                </a:solidFill>
                <a:latin typeface="Calibri"/>
              </a:rPr>
              <a:t>iFood</a:t>
            </a:r>
            <a:r>
              <a:rPr sz="1300" b="0">
                <a:solidFill>
                  <a:srgbClr val="2B2B2B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1 · Produto · Frente Parcerias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Parcerias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11091672" cy="36576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97479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Análise de qualidade da </a:t>
            </a:r>
            <a:r>
              <a:rPr sz="1300" b="1">
                <a:solidFill>
                  <a:srgbClr val="2B2B2B"/>
                </a:solidFill>
                <a:latin typeface="Calibri"/>
              </a:rPr>
              <a:t>API V2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Atuações pontuais em problemas crônicos da API (ex.: iFood)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Apoio à estrutura do time com pouco headcount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2697479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Reuniões comerciais com parceiros como </a:t>
            </a:r>
            <a:r>
              <a:rPr sz="1300" b="1">
                <a:solidFill>
                  <a:srgbClr val="2B2B2B"/>
                </a:solidFill>
                <a:latin typeface="Calibri"/>
              </a:rPr>
              <a:t>iFood, TotalPass, Claro</a:t>
            </a:r>
            <a:r>
              <a:rPr sz="1300" b="0">
                <a:solidFill>
                  <a:srgbClr val="2B2B2B"/>
                </a:solidFill>
                <a:latin typeface="Calibri"/>
              </a:rPr>
              <a:t> etc.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Evolução e acompanhamento de custos mensais de </a:t>
            </a:r>
            <a:r>
              <a:rPr sz="1300" b="1">
                <a:solidFill>
                  <a:srgbClr val="2B2B2B"/>
                </a:solidFill>
                <a:latin typeface="Calibri"/>
              </a:rPr>
              <a:t>LLM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Construção e evolução de novos produtos para parceiros, como </a:t>
            </a:r>
            <a:r>
              <a:rPr sz="1300" b="1">
                <a:solidFill>
                  <a:srgbClr val="2B2B2B"/>
                </a:solidFill>
                <a:latin typeface="Calibri"/>
              </a:rPr>
              <a:t>Shapeme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1 · Produto · Liderança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Liderança de Produto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11091672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10634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Liderança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11091672" cy="31546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104241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Estruturação de plano de evolução da área, com foco na dificuldade de escala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Desenvolvimento do líder que ainda não está pronto para voar solo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Apoio em todos os processos seletivos e desenvolvimento do líder para escolher pessoas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Atuação direta na troca de pessoas-chave do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2 · Engenharia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Engenharia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5303520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Diretoria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31546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46634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Evolução e acompanhamento semanal de qualidade de chamada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Consultoria de Segurança — </a:t>
            </a:r>
            <a:r>
              <a:rPr sz="1300" b="1">
                <a:solidFill>
                  <a:srgbClr val="2B2B2B"/>
                </a:solidFill>
                <a:latin typeface="Calibri"/>
              </a:rPr>
              <a:t>Tempest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Próximos passos de estruturação de Segurança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1">
                <a:solidFill>
                  <a:srgbClr val="2B2B2B"/>
                </a:solidFill>
                <a:latin typeface="Calibri"/>
              </a:rPr>
              <a:t>Shapeme</a:t>
            </a:r>
            <a:r>
              <a:rPr sz="1300" b="0">
                <a:solidFill>
                  <a:srgbClr val="2B2B2B"/>
                </a:solidFill>
                <a:latin typeface="Calibri"/>
              </a:rPr>
              <a:t> — construção do produto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Visão de projeto </a:t>
            </a:r>
            <a:r>
              <a:rPr sz="1300" b="1">
                <a:solidFill>
                  <a:srgbClr val="2B2B2B"/>
                </a:solidFill>
                <a:latin typeface="Calibri"/>
              </a:rPr>
              <a:t>Tiny Teams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Construção da plataforma Tiny Teams e novo modelo de operação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Camada Agêntica Starbem — </a:t>
            </a:r>
            <a:r>
              <a:rPr sz="1300" b="1">
                <a:solidFill>
                  <a:srgbClr val="2B2B2B"/>
                </a:solidFill>
                <a:latin typeface="Calibri"/>
              </a:rPr>
              <a:t>ExABI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423160"/>
            <a:ext cx="5303520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Liderança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2926080"/>
            <a:ext cx="5303520" cy="31546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1" y="3154680"/>
            <a:ext cx="46634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Desenvolvimento da líder para atuação estratégica no business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Atuação direta na troca de pessoas-chave do time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Desenvolvimento e expansão de consciência para novos modelos de operação de engenharia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Aumento de escopo para ampliação de impacto, implantando engenharia cross-área (ex.: CS AI Engineering)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3 ·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5303520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Diretoria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31546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46634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Estruturação e construção do </a:t>
            </a:r>
            <a:r>
              <a:rPr sz="1300" b="1">
                <a:solidFill>
                  <a:srgbClr val="2B2B2B"/>
                </a:solidFill>
                <a:latin typeface="Calibri"/>
              </a:rPr>
              <a:t>Datalake</a:t>
            </a:r>
            <a:r>
              <a:rPr sz="1300" b="0">
                <a:solidFill>
                  <a:srgbClr val="2B2B2B"/>
                </a:solidFill>
                <a:latin typeface="Calibri"/>
              </a:rPr>
              <a:t> e da camada inteligente da Starbem para análises prescritivas e preditivas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Construção e manutenção da camada de inteligência do negócio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Reestruturação da arquitetura de dados da Starbem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Atuação na contratação de novos profissionais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423160"/>
            <a:ext cx="5303520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Liderança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2926080"/>
            <a:ext cx="5303520" cy="31546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1" y="3154680"/>
            <a:ext cx="46634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Atuação com </a:t>
            </a:r>
            <a:r>
              <a:rPr sz="1300" b="1">
                <a:solidFill>
                  <a:srgbClr val="2B2B2B"/>
                </a:solidFill>
                <a:latin typeface="Calibri"/>
              </a:rPr>
              <a:t>PDI</a:t>
            </a:r>
            <a:r>
              <a:rPr sz="1300" b="0">
                <a:solidFill>
                  <a:srgbClr val="2B2B2B"/>
                </a:solidFill>
                <a:latin typeface="Calibri"/>
              </a:rPr>
              <a:t> e desenvolvimento do time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Acompanhamento semanal de tarefas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People management para engajamento do Rodrigo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Plano de crescimento da área com novo líder e segundo analista focado em análise preditiva e impacto financeiro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4 · IT &amp; Suporte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IT &amp; Suporte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11091672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10634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IT &amp; Suporte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11091672" cy="31546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104241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Construção e manutenção da estrutura de </a:t>
            </a:r>
            <a:r>
              <a:rPr sz="1500" b="1">
                <a:solidFill>
                  <a:srgbClr val="2B2B2B"/>
                </a:solidFill>
                <a:latin typeface="Calibri"/>
              </a:rPr>
              <a:t>tickets</a:t>
            </a:r>
            <a:r>
              <a:rPr sz="1500" b="0">
                <a:solidFill>
                  <a:srgbClr val="2B2B2B"/>
                </a:solidFill>
                <a:latin typeface="Calibri"/>
              </a:rPr>
              <a:t> e suporte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Acompanhamento de evolução de tickets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Aproximação entre </a:t>
            </a:r>
            <a:r>
              <a:rPr sz="1500" b="1">
                <a:solidFill>
                  <a:srgbClr val="2B2B2B"/>
                </a:solidFill>
                <a:latin typeface="Calibri"/>
              </a:rPr>
              <a:t>Suporte, CS e Produto</a:t>
            </a:r>
            <a:r>
              <a:rPr sz="1500" b="0">
                <a:solidFill>
                  <a:srgbClr val="2B2B2B"/>
                </a:solidFill>
                <a:latin typeface="Calibri"/>
              </a:rPr>
              <a:t> para evolução contínua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Relacionamento e definição de estratégia para redução de custos no contrato de provedor de aluguel de PCs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Definição da operação da área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5 · Principal Engineer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Principal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11091672" cy="36576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97479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Análises semanais de bugs estruturais da operação (com Júlio)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Desenho arquitetural de soluções da Starbem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Relacionamento com provedor de nuvem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Troca de parceiro </a:t>
            </a:r>
            <a:r>
              <a:rPr sz="1300" b="1">
                <a:solidFill>
                  <a:srgbClr val="2B2B2B"/>
                </a:solidFill>
                <a:latin typeface="Calibri"/>
              </a:rPr>
              <a:t>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2697479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Acompanhamento mensal de custos de nuvem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Manutenção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custo zero</a:t>
            </a:r>
            <a:r>
              <a:rPr sz="1300" b="0">
                <a:solidFill>
                  <a:srgbClr val="2B2B2B"/>
                </a:solidFill>
                <a:latin typeface="Calibri"/>
              </a:rPr>
              <a:t> de infraestrutura Starbem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Relacionamento estratégico com fornecedores como </a:t>
            </a:r>
            <a:r>
              <a:rPr sz="1300" b="1">
                <a:solidFill>
                  <a:srgbClr val="2B2B2B"/>
                </a:solidFill>
                <a:latin typeface="Calibri"/>
              </a:rPr>
              <a:t>Agora.io</a:t>
            </a:r>
            <a:r>
              <a:rPr sz="1300" b="0">
                <a:solidFill>
                  <a:srgbClr val="2B2B2B"/>
                </a:solidFill>
                <a:latin typeface="Calibri"/>
              </a:rPr>
              <a:t> e </a:t>
            </a:r>
            <a:r>
              <a:rPr sz="1300" b="1">
                <a:solidFill>
                  <a:srgbClr val="2B2B2B"/>
                </a:solidFill>
                <a:latin typeface="Calibri"/>
              </a:rPr>
              <a:t>Twilio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Discussão de contrato para redução de custos com Agora e Twilio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Área 6 · Customer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Customer Success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5303520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Diretoria — Operação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31546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46634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Estruturação da área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Estrutura de </a:t>
            </a:r>
            <a:r>
              <a:rPr sz="1300" b="1">
                <a:solidFill>
                  <a:srgbClr val="2B2B2B"/>
                </a:solidFill>
                <a:latin typeface="Calibri"/>
              </a:rPr>
              <a:t>CSM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Novo modelo de operação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implantação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Troca de liderança de CX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Implementação de </a:t>
            </a:r>
            <a:r>
              <a:rPr sz="1300" b="1">
                <a:solidFill>
                  <a:srgbClr val="2B2B2B"/>
                </a:solidFill>
                <a:latin typeface="Calibri"/>
              </a:rPr>
              <a:t>automação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Processo fim a fim: </a:t>
            </a:r>
            <a:r>
              <a:rPr sz="1300" b="1">
                <a:solidFill>
                  <a:srgbClr val="2B2B2B"/>
                </a:solidFill>
                <a:latin typeface="Calibri"/>
              </a:rPr>
              <a:t>Vendas → Implantação → Manutenção → Expansão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Novo modelo de operação (Thaís)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423160"/>
            <a:ext cx="5303520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846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Liderança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2926080"/>
            <a:ext cx="5303520" cy="31546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1" y="3154680"/>
            <a:ext cx="46634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Estruturação de plano de transformação da área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Desenvolvimento do líder que ainda não está pronto para voar solo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Apoio em todos os processos seletivos e desenvolvimento do líder para escolher pessoas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26522"/>
                </a:solidFill>
                <a:latin typeface="Calibri"/>
              </a:rPr>
              <a:t>▪  </a:t>
            </a:r>
            <a:r>
              <a:rPr sz="1300" b="0">
                <a:solidFill>
                  <a:srgbClr val="2B2B2B"/>
                </a:solidFill>
                <a:latin typeface="Calibri"/>
              </a:rPr>
              <a:t>Atuação direta na troca de pessoal-chave do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Camada transversal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Estratégia Starbem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11091672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10634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Estratégia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11091672" cy="31546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104241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Apoio na estruturação de </a:t>
            </a:r>
            <a:r>
              <a:rPr sz="1500" b="1">
                <a:solidFill>
                  <a:srgbClr val="2B2B2B"/>
                </a:solidFill>
                <a:latin typeface="Calibri"/>
              </a:rPr>
              <a:t>OKRs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Influência em múltiplas áreas e com múltiplos líderes para aumento de impacto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Evolução nos processos de contratação para aumento de talentos no quadro de colaboradores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26522"/>
                </a:solidFill>
                <a:latin typeface="Calibri"/>
              </a:rPr>
              <a:t>▪  </a:t>
            </a:r>
            <a:r>
              <a:rPr sz="1500" b="0">
                <a:solidFill>
                  <a:srgbClr val="2B2B2B"/>
                </a:solidFill>
                <a:latin typeface="Calibri"/>
              </a:rPr>
              <a:t>Discussões estratégicas sobre o futuro dos produtos e construção de vantagem competitiva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Times &amp; Liderança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Construí os times que sustentam 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1">
                <a:solidFill>
                  <a:srgbClr val="F26522"/>
                </a:solidFill>
                <a:latin typeface="Funnel Display"/>
              </a:rPr>
              <a:t>15+ pessoas</a:t>
            </a:r>
            <a:r>
              <a:rPr sz="1600" b="0">
                <a:solidFill>
                  <a:srgbClr val="2B2B2B"/>
                </a:solidFill>
                <a:latin typeface="Calibri"/>
              </a:rPr>
              <a:t> contratadas e formadas em Tecnologia, Produto, Dados e Suporte. Por trás de cada área, um líder que estou desenvolvendo.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Barbara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Felipe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Tenório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Leo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Rodrigo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Bruno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3063240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0" y="3063240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Vitor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30752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730752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Humberto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20240" y="3730752"/>
            <a:ext cx="122529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20240" y="3730752"/>
            <a:ext cx="122529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Mila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600" b="0">
                <a:solidFill>
                  <a:srgbClr val="2B2B2B"/>
                </a:solidFill>
                <a:latin typeface="Calibri"/>
              </a:rPr>
              <a:t>Resultado: um salto na </a:t>
            </a:r>
            <a:r>
              <a:rPr sz="1600" b="1">
                <a:solidFill>
                  <a:srgbClr val="F26522"/>
                </a:solidFill>
                <a:latin typeface="Calibri"/>
              </a:rPr>
              <a:t>qualidade percebida</a:t>
            </a:r>
            <a:r>
              <a:rPr sz="1600" b="0">
                <a:solidFill>
                  <a:srgbClr val="2B2B2B"/>
                </a:solidFill>
                <a:latin typeface="Calibri"/>
              </a:rPr>
              <a:t> do time — consistência e confiabilidade que hoje são referência interna.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Destaques do período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Três entregas que mudaram o patamar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3456432" cy="237744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456432" cy="109728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907791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26522"/>
                </a:solidFill>
                <a:latin typeface="Funnel Display"/>
              </a:rPr>
              <a:t>R$30k → 100k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MRR do novo produto 100% IA, puxado por iFood e TotalPass México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3" y="2377440"/>
            <a:ext cx="3456432" cy="237744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61103" y="2377440"/>
            <a:ext cx="3456432" cy="109728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3" y="2697480"/>
            <a:ext cx="2907791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26522"/>
                </a:solidFill>
                <a:latin typeface="Funnel Display"/>
              </a:rPr>
              <a:t>15+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pessoas contratadas e formadas, com líderes em desenvolvimento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7" y="2377440"/>
            <a:ext cx="3456432" cy="237744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73567" y="2377440"/>
            <a:ext cx="3456432" cy="109728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2697480"/>
            <a:ext cx="2907791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26522"/>
                </a:solidFill>
                <a:latin typeface="Funnel Display"/>
              </a:rPr>
              <a:t>~R$800k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de custo de nuvem evitado até dez/2026 (Azure → AWS + créditos)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206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Além de receita habilitada em parcerias, risco mitigado em segurança e a base de dados pronta para decisões preditivas.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Para onde vai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Estratégia de produto com IA — próximos 12 meses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11091672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10634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unnel Display"/>
              </a:rPr>
              <a:t>Próximos 12 meses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11091672" cy="31546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104241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1">
                <a:solidFill>
                  <a:srgbClr val="2B2B2B"/>
                </a:solidFill>
                <a:latin typeface="Calibri"/>
              </a:rPr>
              <a:t>Produto 100% IA</a:t>
            </a:r>
            <a:r>
              <a:rPr sz="1600" b="0">
                <a:solidFill>
                  <a:srgbClr val="2B2B2B"/>
                </a:solidFill>
                <a:latin typeface="Calibri"/>
              </a:rPr>
              <a:t> em escala: de R$30k para </a:t>
            </a:r>
            <a:r>
              <a:rPr sz="1600" b="1">
                <a:solidFill>
                  <a:srgbClr val="2B2B2B"/>
                </a:solidFill>
                <a:latin typeface="Calibri"/>
              </a:rPr>
              <a:t>+R$100k de MRR</a:t>
            </a:r>
            <a:r>
              <a:rPr sz="1600" b="0">
                <a:solidFill>
                  <a:srgbClr val="2B2B2B"/>
                </a:solidFill>
                <a:latin typeface="Calibri"/>
              </a:rPr>
              <a:t>, com pipeline de parceiros (iFood, TotalPass México)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1">
                <a:solidFill>
                  <a:srgbClr val="2B2B2B"/>
                </a:solidFill>
                <a:latin typeface="Calibri"/>
              </a:rPr>
              <a:t>ExABI</a:t>
            </a:r>
            <a:r>
              <a:rPr sz="1600" b="0">
                <a:solidFill>
                  <a:srgbClr val="2B2B2B"/>
                </a:solidFill>
                <a:latin typeface="Calibri"/>
              </a:rPr>
              <a:t> — camada agêntica da Starbem como diferencial competitivo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1">
                <a:solidFill>
                  <a:srgbClr val="2B2B2B"/>
                </a:solidFill>
                <a:latin typeface="Calibri"/>
              </a:rPr>
              <a:t>StarBrain</a:t>
            </a:r>
            <a:r>
              <a:rPr sz="1600" b="0">
                <a:solidFill>
                  <a:srgbClr val="2B2B2B"/>
                </a:solidFill>
                <a:latin typeface="Calibri"/>
              </a:rPr>
              <a:t> retroalimentado por dados: visão unificada de paciente e profissional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1">
                <a:solidFill>
                  <a:srgbClr val="2B2B2B"/>
                </a:solidFill>
                <a:latin typeface="Calibri"/>
              </a:rPr>
              <a:t>Datalake preditivo</a:t>
            </a:r>
            <a:r>
              <a:rPr sz="1600" b="0">
                <a:solidFill>
                  <a:srgbClr val="2B2B2B"/>
                </a:solidFill>
                <a:latin typeface="Calibri"/>
              </a:rPr>
              <a:t> ligando dados a impacto financeiro do negócio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6522"/>
                </a:solidFill>
                <a:latin typeface="Calibri"/>
              </a:rPr>
              <a:t>▪  </a:t>
            </a:r>
            <a:r>
              <a:rPr sz="1600" b="1">
                <a:solidFill>
                  <a:srgbClr val="2B2B2B"/>
                </a:solidFill>
                <a:latin typeface="Calibri"/>
              </a:rPr>
              <a:t>Tiny Teams</a:t>
            </a:r>
            <a:r>
              <a:rPr sz="1600" b="0">
                <a:solidFill>
                  <a:srgbClr val="2B2B2B"/>
                </a:solidFill>
                <a:latin typeface="Calibri"/>
              </a:rPr>
              <a:t>: fazer mais com menos, escalando operação com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gradFill rotWithShape="1">
            <a:gsLst>
              <a:gs pos="0">
                <a:srgbClr val="EE4E1B"/>
              </a:gs>
              <a:gs pos="100000">
                <a:srgbClr val="FF8A1E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★ </a:t>
            </a:r>
            <a:r>
              <a:rPr sz="2000" b="1">
                <a:solidFill>
                  <a:srgbClr val="FFFFFF"/>
                </a:solidFill>
                <a:latin typeface="Funnel Display"/>
              </a:rPr>
              <a:t>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82880"/>
            <a:ext cx="6217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Funnel Display"/>
              </a:rPr>
              <a:t>Em resumo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B2B2B"/>
                </a:solidFill>
                <a:latin typeface="Funnel Display"/>
              </a:rPr>
              <a:t>Uma visão consolidada — pronta para discutir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2B2B2B"/>
                </a:solidFill>
                <a:latin typeface="Calibri"/>
              </a:rPr>
              <a:t>Seis áreas de atuação detalhadas, 15+ pessoas formadas, um produto de IA em crescimento acelerado e uma operação mais barata e mais confiável. Trouxe esse panorama para darmos visibilidade ao todo e </a:t>
            </a:r>
            <a:r>
              <a:rPr sz="1700" b="1">
                <a:solidFill>
                  <a:srgbClr val="F26522"/>
                </a:solidFill>
                <a:latin typeface="Calibri"/>
              </a:rPr>
              <a:t>discutirmos juntos os próximos passos de cada frente.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14800"/>
            <a:ext cx="1020470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020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Produto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51990" y="4114800"/>
            <a:ext cx="131673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51990" y="4114800"/>
            <a:ext cx="13167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Engenharia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1606" y="4114800"/>
            <a:ext cx="822960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1606" y="4114800"/>
            <a:ext cx="822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7446" y="4114800"/>
            <a:ext cx="1514246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7446" y="4114800"/>
            <a:ext cx="151424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IT &amp; Suporte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54572" y="4114800"/>
            <a:ext cx="2205532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54572" y="4114800"/>
            <a:ext cx="22055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Arquitetura &amp; Nuvem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42985" y="4114800"/>
            <a:ext cx="2008022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2985" y="4114800"/>
            <a:ext cx="200802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Times &amp; Liderança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1909267" cy="50292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754880"/>
            <a:ext cx="190926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Calibri"/>
              </a:rPr>
              <a:t>Customer Success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190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