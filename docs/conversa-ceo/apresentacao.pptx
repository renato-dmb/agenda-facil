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Segoe UI"/>
              </a:rPr>
              <a:t>★ STARBEM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AF0FB"/>
                </a:solidFill>
                <a:latin typeface="Segoe UI"/>
              </a:rPr>
              <a:t>Áreas de Atuação &amp; Impacto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9AA7BD"/>
                </a:solidFill>
                <a:latin typeface="Segoe UI"/>
              </a:rPr>
              <a:t>Uma visão consolidada e detalhada de todas as frentes que conduzo hoje na companhia — do produto à infraestrutura, passando por dados, CS, suporte e times.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AA7BD"/>
                </a:solidFill>
                <a:latin typeface="Segoe UI"/>
              </a:rPr>
              <a:t>Renato · Tecnologia, Produto, Dados &amp; CS · Junho/2026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ONDE EU ATUO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Seis frentes, uma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9AA7BD"/>
                </a:solidFill>
                <a:latin typeface="Segoe UI"/>
              </a:rPr>
              <a:t>Cada frente equivale, no mercado, a um cargo de diretoria ou liderança — e por trás de cada uma há um líder em desenvolvimento.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88920"/>
            <a:ext cx="3337560" cy="160020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971800"/>
            <a:ext cx="28803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F0FB"/>
                </a:solidFill>
                <a:latin typeface="Segoe UI"/>
              </a:rPr>
              <a:t>Customer Success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9AA7BD"/>
                </a:solidFill>
                <a:latin typeface="Segoe UI"/>
              </a:rPr>
              <a:t>Estrutura, implantação e ciclo de vida do cliente.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2788920"/>
            <a:ext cx="3337560" cy="160020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54296" y="2971800"/>
            <a:ext cx="28803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F0FB"/>
                </a:solidFill>
                <a:latin typeface="Segoe UI"/>
              </a:rPr>
              <a:t>Produto · 5 OKRs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9AA7BD"/>
                </a:solidFill>
                <a:latin typeface="Segoe UI"/>
              </a:rPr>
              <a:t>Paciente, Profissional, RH (NR1) e Parcerias.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2788920"/>
            <a:ext cx="3337560" cy="160020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1" y="2971800"/>
            <a:ext cx="28803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F0FB"/>
                </a:solidFill>
                <a:latin typeface="Segoe UI"/>
              </a:rPr>
              <a:t>Engenharia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9AA7BD"/>
                </a:solidFill>
                <a:latin typeface="Segoe UI"/>
              </a:rPr>
              <a:t>Plataforma, segurança, IA e novos modelos de operação.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617720"/>
            <a:ext cx="3337560" cy="160020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800600"/>
            <a:ext cx="28803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F0FB"/>
                </a:solidFill>
                <a:latin typeface="Segoe UI"/>
              </a:rPr>
              <a:t>Dados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9AA7BD"/>
                </a:solidFill>
                <a:latin typeface="Segoe UI"/>
              </a:rPr>
              <a:t>Datalake e inteligência preditiva/prescritiva.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4617720"/>
            <a:ext cx="3337560" cy="160020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4800600"/>
            <a:ext cx="28803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F0FB"/>
                </a:solidFill>
                <a:latin typeface="Segoe UI"/>
              </a:rPr>
              <a:t>IT &amp; Suporte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9AA7BD"/>
                </a:solidFill>
                <a:latin typeface="Segoe UI"/>
              </a:rPr>
              <a:t>Tickets, integração com CS/Produto e custos.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4617720"/>
            <a:ext cx="3337560" cy="160020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4800600"/>
            <a:ext cx="28803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AF0FB"/>
                </a:solidFill>
                <a:latin typeface="Segoe UI"/>
              </a:rPr>
              <a:t>Principal Engineer</a:t>
            </a:r>
          </a:p>
          <a:p>
            <a:pPr>
              <a:lnSpc>
                <a:spcPct val="112000"/>
              </a:lnSpc>
              <a:spcBef>
                <a:spcPts val="400"/>
              </a:spcBef>
            </a:pPr>
            <a:r>
              <a:rPr sz="1100" b="0">
                <a:solidFill>
                  <a:srgbClr val="9AA7BD"/>
                </a:solidFill>
                <a:latin typeface="Segoe UI"/>
              </a:rPr>
              <a:t>Arquitetura, nuvem e fornecedores estratégicos.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1 · CUSTOMER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Customer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DIRETORIA — OPERAÇÃO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Estruturação da área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Estrutura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CSM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Novo modelo de operação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implantação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Troca de liderança de CX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Implementação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automação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Processo fim a fim: </a:t>
            </a:r>
            <a:r>
              <a:rPr sz="1400" b="1">
                <a:solidFill>
                  <a:srgbClr val="EAF0FB"/>
                </a:solidFill>
                <a:latin typeface="Segoe UI"/>
              </a:rPr>
              <a:t>Vendas → Implantação → Manutenção → Expansão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Novo modelo de operação (Thaís)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LIDERANÇA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Estruturação de plano de transformação da área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Desenvolvimento do líder que ainda não está pronto para voar solo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Apoio em todos os processos seletivos e desenvolvimento do líder para escolher pessoas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Atuação direta na troca de pessoal-chave do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2 · PRODUTO · 5 OKRS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EAF0FB"/>
                </a:solidFill>
                <a:latin typeface="Segoe UI"/>
              </a:rPr>
              <a:t>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AA7BD"/>
                </a:solidFill>
                <a:latin typeface="Segoe UI"/>
              </a:rPr>
              <a:t>Quatro frentes de produto + liderança — uma página dedicada para cada: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700" b="0">
                <a:solidFill>
                  <a:srgbClr val="9AA7BD"/>
                </a:solidFill>
                <a:latin typeface="Segoe UI"/>
              </a:rPr>
              <a:t>Frente </a:t>
            </a:r>
            <a:r>
              <a:rPr sz="1700" b="1">
                <a:solidFill>
                  <a:srgbClr val="EAF0FB"/>
                </a:solidFill>
                <a:latin typeface="Segoe UI"/>
              </a:rPr>
              <a:t>Paciente</a:t>
            </a:r>
            <a:r>
              <a:rPr sz="1700" b="0">
                <a:solidFill>
                  <a:srgbClr val="9AA7BD"/>
                </a:solidFill>
                <a:latin typeface="Segoe UI"/>
              </a:rPr>
              <a:t> — jornada B2C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700" b="0">
                <a:solidFill>
                  <a:srgbClr val="9AA7BD"/>
                </a:solidFill>
                <a:latin typeface="Segoe UI"/>
              </a:rPr>
              <a:t>Frente </a:t>
            </a:r>
            <a:r>
              <a:rPr sz="1700" b="1">
                <a:solidFill>
                  <a:srgbClr val="EAF0FB"/>
                </a:solidFill>
                <a:latin typeface="Segoe UI"/>
              </a:rPr>
              <a:t>Profissional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700" b="0">
                <a:solidFill>
                  <a:srgbClr val="9AA7BD"/>
                </a:solidFill>
                <a:latin typeface="Segoe UI"/>
              </a:rPr>
              <a:t>Frente </a:t>
            </a:r>
            <a:r>
              <a:rPr sz="1700" b="1">
                <a:solidFill>
                  <a:srgbClr val="EAF0FB"/>
                </a:solidFill>
                <a:latin typeface="Segoe UI"/>
              </a:rPr>
              <a:t>RH</a:t>
            </a:r>
            <a:r>
              <a:rPr sz="1700" b="0">
                <a:solidFill>
                  <a:srgbClr val="9AA7BD"/>
                </a:solidFill>
                <a:latin typeface="Segoe UI"/>
              </a:rPr>
              <a:t> (NR1)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700" b="0">
                <a:solidFill>
                  <a:srgbClr val="9AA7BD"/>
                </a:solidFill>
                <a:latin typeface="Segoe UI"/>
              </a:rPr>
              <a:t>Frente </a:t>
            </a:r>
            <a:r>
              <a:rPr sz="1700" b="1">
                <a:solidFill>
                  <a:srgbClr val="EAF0FB"/>
                </a:solidFill>
                <a:latin typeface="Segoe UI"/>
              </a:rPr>
              <a:t>Parcerias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700" b="1">
                <a:solidFill>
                  <a:srgbClr val="EAF0FB"/>
                </a:solidFill>
                <a:latin typeface="Segoe UI"/>
              </a:rPr>
              <a:t>Liderança</a:t>
            </a:r>
            <a:r>
              <a:rPr sz="1700" b="0">
                <a:solidFill>
                  <a:srgbClr val="9AA7BD"/>
                </a:solidFill>
                <a:latin typeface="Segoe UI"/>
              </a:rPr>
              <a:t> de Produto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2 · PRODUTO · FRENTE PACIENTE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Paciente — Jornada B2C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Uso de múltiplos serviços — </a:t>
            </a:r>
            <a:r>
              <a:rPr sz="1400" b="1">
                <a:solidFill>
                  <a:srgbClr val="EAF0FB"/>
                </a:solidFill>
                <a:latin typeface="Segoe UI"/>
              </a:rPr>
              <a:t>Cross Service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Novo canal </a:t>
            </a:r>
            <a:r>
              <a:rPr sz="1400" b="1">
                <a:solidFill>
                  <a:srgbClr val="EAF0FB"/>
                </a:solidFill>
                <a:latin typeface="Segoe UI"/>
              </a:rPr>
              <a:t>WhatsApp</a:t>
            </a:r>
            <a:r>
              <a:rPr sz="1400" b="0">
                <a:solidFill>
                  <a:srgbClr val="9AA7BD"/>
                </a:solidFill>
                <a:latin typeface="Segoe UI"/>
              </a:rPr>
              <a:t> para pacientes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1">
                <a:solidFill>
                  <a:srgbClr val="EAF0FB"/>
                </a:solidFill>
                <a:latin typeface="Segoe UI"/>
              </a:rPr>
              <a:t>StarBrain</a:t>
            </a:r>
            <a:r>
              <a:rPr sz="1400" b="0">
                <a:solidFill>
                  <a:srgbClr val="9AA7BD"/>
                </a:solidFill>
                <a:latin typeface="Segoe UI"/>
              </a:rPr>
              <a:t> — Cérebro Central com visão unificada do paciente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1">
                <a:solidFill>
                  <a:srgbClr val="EAF0FB"/>
                </a:solidFill>
                <a:latin typeface="Segoe UI"/>
              </a:rPr>
              <a:t>Shapeme</a:t>
            </a:r>
            <a:r>
              <a:rPr sz="1400" b="0">
                <a:solidFill>
                  <a:srgbClr val="9AA7BD"/>
                </a:solidFill>
                <a:latin typeface="Segoe UI"/>
              </a:rPr>
              <a:t> — Jornada comercial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1">
                <a:solidFill>
                  <a:srgbClr val="EAF0FB"/>
                </a:solidFill>
                <a:latin typeface="Segoe UI"/>
              </a:rPr>
              <a:t>Shapeme</a:t>
            </a:r>
            <a:r>
              <a:rPr sz="1400" b="0">
                <a:solidFill>
                  <a:srgbClr val="9AA7BD"/>
                </a:solidFill>
                <a:latin typeface="Segoe UI"/>
              </a:rPr>
              <a:t> — Desenho da jornada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Evolução de jornada </a:t>
            </a:r>
            <a:r>
              <a:rPr sz="1400" b="1">
                <a:solidFill>
                  <a:srgbClr val="EAF0FB"/>
                </a:solidFill>
                <a:latin typeface="Segoe UI"/>
              </a:rPr>
              <a:t>B2C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Acompanhamento de faturamento e crescimento de B2C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2 · PRODUTO · FRENTE PROFISSIONAL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Profissional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Correção e acompanhamento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videochamadas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Evolução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NPS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Pesquisa de qualidade de atendimento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Pesquisa de infraestrutura profissional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Gravação e transcrição de chamada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Construção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prontuário automatizado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Retroalimentação do cérebro central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Planejamento de serviços de automação para o profissional: cadastro, consumo mensal, notas fiscais etc.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Controle de agendas e faturamento </a:t>
            </a:r>
            <a:r>
              <a:rPr sz="1400" b="1">
                <a:solidFill>
                  <a:srgbClr val="EAF0FB"/>
                </a:solidFill>
                <a:latin typeface="Segoe UI"/>
              </a:rPr>
              <a:t>TP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Evolução e análise mensal de qualidade e melhorias para profissionais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2 · PRODUTO · FRENTE RH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RH — NR1 &amp; Portal RH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Construção/evolução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NR1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Construção/evolução do </a:t>
            </a:r>
            <a:r>
              <a:rPr sz="1400" b="1">
                <a:solidFill>
                  <a:srgbClr val="EAF0FB"/>
                </a:solidFill>
                <a:latin typeface="Segoe UI"/>
              </a:rPr>
              <a:t>Portal RH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Correção de problemas NR1 (Eduardo O.)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Planejamento e evolução do Portal RH para valor real ao RH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Definição </a:t>
            </a:r>
            <a:r>
              <a:rPr sz="1400" b="1">
                <a:solidFill>
                  <a:srgbClr val="EAF0FB"/>
                </a:solidFill>
                <a:latin typeface="Segoe UI"/>
              </a:rPr>
              <a:t>multi-tiers</a:t>
            </a:r>
            <a:r>
              <a:rPr sz="1400" b="0">
                <a:solidFill>
                  <a:srgbClr val="9AA7BD"/>
                </a:solidFill>
                <a:latin typeface="Segoe UI"/>
              </a:rPr>
              <a:t> de NR1 para múltiplas demandas de clientes (Produto de 1 a 4)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Reuniões comerciais com clientes — retirada de dúvidas sobre NR1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Evolução de dores em casos de falha de APIs em cliente B2B (</a:t>
            </a:r>
            <a:r>
              <a:rPr sz="1400" b="1">
                <a:solidFill>
                  <a:srgbClr val="EAF0FB"/>
                </a:solidFill>
                <a:latin typeface="Segoe UI"/>
              </a:rPr>
              <a:t>iFood</a:t>
            </a:r>
            <a:r>
              <a:rPr sz="1400" b="0">
                <a:solidFill>
                  <a:srgbClr val="9AA7BD"/>
                </a:solidFill>
                <a:latin typeface="Segoe UI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2 · PRODUTO · FRENTE PARCERIAS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Parcerias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Análise de qualidade da </a:t>
            </a:r>
            <a:r>
              <a:rPr sz="1400" b="1">
                <a:solidFill>
                  <a:srgbClr val="EAF0FB"/>
                </a:solidFill>
                <a:latin typeface="Segoe UI"/>
              </a:rPr>
              <a:t>API V2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Atuações pontuais em problemas crônicos da API (ex.: iFood)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Apoio à estrutura do time com pouco headcount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Reuniões comerciais com parceiros como </a:t>
            </a:r>
            <a:r>
              <a:rPr sz="1400" b="1">
                <a:solidFill>
                  <a:srgbClr val="EAF0FB"/>
                </a:solidFill>
                <a:latin typeface="Segoe UI"/>
              </a:rPr>
              <a:t>iFood, TotalPass, Claro</a:t>
            </a:r>
            <a:r>
              <a:rPr sz="1400" b="0">
                <a:solidFill>
                  <a:srgbClr val="9AA7BD"/>
                </a:solidFill>
                <a:latin typeface="Segoe UI"/>
              </a:rPr>
              <a:t> etc.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Evolução e acompanhamento de custos mensais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LLM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Construção e evolução de novos produtos para parceiros, como </a:t>
            </a:r>
            <a:r>
              <a:rPr sz="1400" b="1">
                <a:solidFill>
                  <a:srgbClr val="EAF0FB"/>
                </a:solidFill>
                <a:latin typeface="Segoe UI"/>
              </a:rPr>
              <a:t>Shapeme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2 · PRODUTO · LIDERANÇA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Liderança de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LIDERANÇA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Estruturação de plano de evolução da área, com foco na dificuldade de escala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Desenvolvimento do líder que ainda não está pronto para voar solo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Apoio em todos os processos seletivos e desenvolvimento do líder para escolher pessoas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Atuação direta na troca de pessoas-chave 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3 · ENGENHARIA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Engenharia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DIRETORIA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Evolução e acompanhamento semanal de qualidade de chamada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Consultoria de Segurança — </a:t>
            </a:r>
            <a:r>
              <a:rPr sz="1400" b="1">
                <a:solidFill>
                  <a:srgbClr val="EAF0FB"/>
                </a:solidFill>
                <a:latin typeface="Segoe UI"/>
              </a:rPr>
              <a:t>Tempest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Próximos passos de estruturação de Segurança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1">
                <a:solidFill>
                  <a:srgbClr val="EAF0FB"/>
                </a:solidFill>
                <a:latin typeface="Segoe UI"/>
              </a:rPr>
              <a:t>Shapeme</a:t>
            </a:r>
            <a:r>
              <a:rPr sz="1400" b="0">
                <a:solidFill>
                  <a:srgbClr val="9AA7BD"/>
                </a:solidFill>
                <a:latin typeface="Segoe UI"/>
              </a:rPr>
              <a:t> — construção do produto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Visão de projeto </a:t>
            </a:r>
            <a:r>
              <a:rPr sz="1400" b="1">
                <a:solidFill>
                  <a:srgbClr val="EAF0FB"/>
                </a:solidFill>
                <a:latin typeface="Segoe UI"/>
              </a:rPr>
              <a:t>Tiny Teams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Construção da plataforma Tiny Teams e novo modelo de operação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Camada Agêntica Starbem — </a:t>
            </a:r>
            <a:r>
              <a:rPr sz="1400" b="1">
                <a:solidFill>
                  <a:srgbClr val="EAF0FB"/>
                </a:solidFill>
                <a:latin typeface="Segoe UI"/>
              </a:rPr>
              <a:t>ExABI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LIDERANÇA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Desenvolvimento da líder para atuação estratégica no business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Atuação direta na troca de pessoas-chave do time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Desenvolvimento e expansão de consciência para novos modelos de operação de engenharia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Aumento de escopo para ampliação de impacto, implantando engenharia cross-área (ex.: CS AI Engineering)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4 ·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DIRETORIA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Estruturação e construção do </a:t>
            </a:r>
            <a:r>
              <a:rPr sz="1400" b="1">
                <a:solidFill>
                  <a:srgbClr val="EAF0FB"/>
                </a:solidFill>
                <a:latin typeface="Segoe UI"/>
              </a:rPr>
              <a:t>Datalake</a:t>
            </a:r>
            <a:r>
              <a:rPr sz="1400" b="0">
                <a:solidFill>
                  <a:srgbClr val="9AA7BD"/>
                </a:solidFill>
                <a:latin typeface="Segoe UI"/>
              </a:rPr>
              <a:t> e da camada inteligente da Starbem para análises prescritivas e preditivas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Construção e manutenção da camada de inteligência do negócio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Reestruturação da arquitetura de dados da Starbem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Atuação na contratação de novos profissionais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LIDERANÇA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Atuação com </a:t>
            </a:r>
            <a:r>
              <a:rPr sz="1400" b="1">
                <a:solidFill>
                  <a:srgbClr val="EAF0FB"/>
                </a:solidFill>
                <a:latin typeface="Segoe UI"/>
              </a:rPr>
              <a:t>PDI</a:t>
            </a:r>
            <a:r>
              <a:rPr sz="1400" b="0">
                <a:solidFill>
                  <a:srgbClr val="9AA7BD"/>
                </a:solidFill>
                <a:latin typeface="Segoe UI"/>
              </a:rPr>
              <a:t> e desenvolvimento do time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Acompanhamento semanal de tarefas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People management para engajamento do Rodrigo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Plano de crescimento da área com novo líder e segundo analista focado em análise preditiva e impacto financeiro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5 · IT &amp; SUPORTE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IT &amp; Suporte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IT &amp; SUPORTE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Construção e manutenção da estrutura de </a:t>
            </a:r>
            <a:r>
              <a:rPr sz="1500" b="1">
                <a:solidFill>
                  <a:srgbClr val="EAF0FB"/>
                </a:solidFill>
                <a:latin typeface="Segoe UI"/>
              </a:rPr>
              <a:t>tickets</a:t>
            </a:r>
            <a:r>
              <a:rPr sz="1500" b="0">
                <a:solidFill>
                  <a:srgbClr val="9AA7BD"/>
                </a:solidFill>
                <a:latin typeface="Segoe UI"/>
              </a:rPr>
              <a:t> e suporte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Acompanhamento de evolução de tickets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Aproximação entre </a:t>
            </a:r>
            <a:r>
              <a:rPr sz="1500" b="1">
                <a:solidFill>
                  <a:srgbClr val="EAF0FB"/>
                </a:solidFill>
                <a:latin typeface="Segoe UI"/>
              </a:rPr>
              <a:t>Suporte, CS e Produto</a:t>
            </a:r>
            <a:r>
              <a:rPr sz="1500" b="0">
                <a:solidFill>
                  <a:srgbClr val="9AA7BD"/>
                </a:solidFill>
                <a:latin typeface="Segoe UI"/>
              </a:rPr>
              <a:t> para evolução contínua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Relacionamento e definição de estratégia para redução de custos no contrato de provedor de aluguel de PCs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Definição da operação da área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ÁREA 6 · PRINCIPAL ENGINEER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Principal Engineer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Análises semanais de bugs estruturais da operação (com Júlio)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Desenho arquitetural de soluções da Starbem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Relacionamento com provedor de nuvem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Troca de parceiro </a:t>
            </a:r>
            <a:r>
              <a:rPr sz="1400" b="1">
                <a:solidFill>
                  <a:srgbClr val="EAF0FB"/>
                </a:solidFill>
                <a:latin typeface="Segoe UI"/>
              </a:rPr>
              <a:t>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Acompanhamento mensal de custos de nuvem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Manutenção de </a:t>
            </a:r>
            <a:r>
              <a:rPr sz="1400" b="1">
                <a:solidFill>
                  <a:srgbClr val="EAF0FB"/>
                </a:solidFill>
                <a:latin typeface="Segoe UI"/>
              </a:rPr>
              <a:t>custo zero</a:t>
            </a:r>
            <a:r>
              <a:rPr sz="1400" b="0">
                <a:solidFill>
                  <a:srgbClr val="9AA7BD"/>
                </a:solidFill>
                <a:latin typeface="Segoe UI"/>
              </a:rPr>
              <a:t> de infraestrutura Starbem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Relacionamento estratégico com fornecedores como </a:t>
            </a:r>
            <a:r>
              <a:rPr sz="1400" b="1">
                <a:solidFill>
                  <a:srgbClr val="EAF0FB"/>
                </a:solidFill>
                <a:latin typeface="Segoe UI"/>
              </a:rPr>
              <a:t>Agora.io</a:t>
            </a:r>
            <a:r>
              <a:rPr sz="1400" b="0">
                <a:solidFill>
                  <a:srgbClr val="9AA7BD"/>
                </a:solidFill>
                <a:latin typeface="Segoe UI"/>
              </a:rPr>
              <a:t> e </a:t>
            </a:r>
            <a:r>
              <a:rPr sz="1400" b="1">
                <a:solidFill>
                  <a:srgbClr val="EAF0FB"/>
                </a:solidFill>
                <a:latin typeface="Segoe UI"/>
              </a:rPr>
              <a:t>Twilio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400" b="0">
                <a:solidFill>
                  <a:srgbClr val="9AA7BD"/>
                </a:solidFill>
                <a:latin typeface="Segoe UI"/>
              </a:rPr>
              <a:t>Discussão de contrato para redução de custos com Agora e Twilio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CAMADA TRANSVERSAL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Estratégia Starbem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F4B740"/>
                </a:solidFill>
                <a:latin typeface="Segoe UI"/>
              </a:rPr>
              <a:t>ESTRATÉGIA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Apoio na estruturação de </a:t>
            </a:r>
            <a:r>
              <a:rPr sz="1500" b="1">
                <a:solidFill>
                  <a:srgbClr val="EAF0FB"/>
                </a:solidFill>
                <a:latin typeface="Segoe UI"/>
              </a:rPr>
              <a:t>OKRs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Influência em múltiplas áreas e com múltiplos líderes para aumento de impacto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Evolução nos processos de contratação para aumento de talentos no quadro de colaboradores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500" b="0">
                <a:solidFill>
                  <a:srgbClr val="9AA7BD"/>
                </a:solidFill>
                <a:latin typeface="Segoe UI"/>
              </a:rPr>
              <a:t>Discussões estratégicas sobre o futuro dos produtos e construção de vantagem competitiva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O QUE CONECTA TODAS AS ÁREAS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Construí os times que sustentam a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2DD4BF"/>
                </a:solidFill>
                <a:latin typeface="Segoe UI"/>
              </a:rPr>
              <a:t>15+ pessoas</a:t>
            </a:r>
            <a:r>
              <a:rPr sz="1600" b="0">
                <a:solidFill>
                  <a:srgbClr val="9AA7BD"/>
                </a:solidFill>
                <a:latin typeface="Segoe UI"/>
              </a:rPr>
              <a:t> contratadas e formadas em Tecnologia, Produto, Dados e Suporte. Por trás de cada área, um líder que estou desenvolvendo.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154680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Barbara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76272" y="3154680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76272" y="3154680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Felipe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9584" y="3154680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3154680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Tenório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82896" y="3154680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82896" y="3154680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Leo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3154680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8" y="3154680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Rodrigo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3154680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3154680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Bruno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2832" y="3154680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3154680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Vitor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22191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22191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Humberto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76272" y="3822191"/>
            <a:ext cx="120700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76272" y="3822191"/>
            <a:ext cx="12070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AF0FB"/>
                </a:solidFill>
                <a:latin typeface="Segoe UI"/>
              </a:rPr>
              <a:t>Mila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6634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 b="0">
                <a:solidFill>
                  <a:srgbClr val="9AA7BD"/>
                </a:solidFill>
                <a:latin typeface="Segoe UI"/>
              </a:rPr>
              <a:t>Resultado: um salto na </a:t>
            </a:r>
            <a:r>
              <a:rPr sz="1600" b="1">
                <a:solidFill>
                  <a:srgbClr val="EAF0FB"/>
                </a:solidFill>
                <a:latin typeface="Segoe UI"/>
              </a:rPr>
              <a:t>qualidade percebida</a:t>
            </a:r>
            <a:r>
              <a:rPr sz="1600" b="0">
                <a:solidFill>
                  <a:srgbClr val="9AA7BD"/>
                </a:solidFill>
                <a:latin typeface="Segoe UI"/>
              </a:rPr>
              <a:t> do time — consistência e confiabilidade que hoje são referência interna.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DESTAQUES DO PERÍODO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Três entregas que mudaram o patamar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337560" cy="246888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97480"/>
            <a:ext cx="2788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2DD4BF"/>
                </a:solidFill>
                <a:latin typeface="Segoe UI"/>
              </a:rPr>
              <a:t>R$30k → 100k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50" b="0">
                <a:solidFill>
                  <a:srgbClr val="9AA7BD"/>
                </a:solidFill>
                <a:latin typeface="Segoe UI"/>
              </a:rPr>
              <a:t>MRR do novo produto 100% IA, puxado por iFood e TotalPass México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2377440"/>
            <a:ext cx="3337560" cy="246888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0016" y="2697480"/>
            <a:ext cx="2788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2DD4BF"/>
                </a:solidFill>
                <a:latin typeface="Segoe UI"/>
              </a:rPr>
              <a:t>15+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50" b="0">
                <a:solidFill>
                  <a:srgbClr val="9AA7BD"/>
                </a:solidFill>
                <a:latin typeface="Segoe UI"/>
              </a:rPr>
              <a:t>pessoas contratadas e formadas, com líderes em desenvolvimento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377440"/>
            <a:ext cx="3337560" cy="246888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2697480"/>
            <a:ext cx="2788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2DD4BF"/>
                </a:solidFill>
                <a:latin typeface="Segoe UI"/>
              </a:rPr>
              <a:t>~R$800k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350" b="0">
                <a:solidFill>
                  <a:srgbClr val="9AA7BD"/>
                </a:solidFill>
                <a:latin typeface="Segoe UI"/>
              </a:rPr>
              <a:t>de custo de nuvem evitado até dez/2026 (Azure → AWS + créditos)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0">
                <a:solidFill>
                  <a:srgbClr val="9AA7BD"/>
                </a:solidFill>
                <a:latin typeface="Segoe UI"/>
              </a:rPr>
              <a:t>Além de receita habilitada em parcerias, risco mitigado em segurança e a base de dados pronta para decisões preditivas.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PARA ONDE VAI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Estratégia de produto com IA — próximos 12 meses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600" b="1">
                <a:solidFill>
                  <a:srgbClr val="EAF0FB"/>
                </a:solidFill>
                <a:latin typeface="Segoe UI"/>
              </a:rPr>
              <a:t>Produto 100% IA</a:t>
            </a:r>
            <a:r>
              <a:rPr sz="1600" b="0">
                <a:solidFill>
                  <a:srgbClr val="9AA7BD"/>
                </a:solidFill>
                <a:latin typeface="Segoe UI"/>
              </a:rPr>
              <a:t> em escala: de R$30k para </a:t>
            </a:r>
            <a:r>
              <a:rPr sz="1600" b="1">
                <a:solidFill>
                  <a:srgbClr val="EAF0FB"/>
                </a:solidFill>
                <a:latin typeface="Segoe UI"/>
              </a:rPr>
              <a:t>+R$100k de MRR</a:t>
            </a:r>
            <a:r>
              <a:rPr sz="1600" b="0">
                <a:solidFill>
                  <a:srgbClr val="9AA7BD"/>
                </a:solidFill>
                <a:latin typeface="Segoe UI"/>
              </a:rPr>
              <a:t>, com pipeline de parceiros (iFood, TotalPass México)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600" b="1">
                <a:solidFill>
                  <a:srgbClr val="EAF0FB"/>
                </a:solidFill>
                <a:latin typeface="Segoe UI"/>
              </a:rPr>
              <a:t>ExABI</a:t>
            </a:r>
            <a:r>
              <a:rPr sz="1600" b="0">
                <a:solidFill>
                  <a:srgbClr val="9AA7BD"/>
                </a:solidFill>
                <a:latin typeface="Segoe UI"/>
              </a:rPr>
              <a:t> — camada agêntica da Starbem como diferencial competitivo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600" b="1">
                <a:solidFill>
                  <a:srgbClr val="EAF0FB"/>
                </a:solidFill>
                <a:latin typeface="Segoe UI"/>
              </a:rPr>
              <a:t>StarBrain</a:t>
            </a:r>
            <a:r>
              <a:rPr sz="1600" b="0">
                <a:solidFill>
                  <a:srgbClr val="9AA7BD"/>
                </a:solidFill>
                <a:latin typeface="Segoe UI"/>
              </a:rPr>
              <a:t> retroalimentado por dados: visão unificada de paciente e profissional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600" b="1">
                <a:solidFill>
                  <a:srgbClr val="EAF0FB"/>
                </a:solidFill>
                <a:latin typeface="Segoe UI"/>
              </a:rPr>
              <a:t>Datalake preditivo</a:t>
            </a:r>
            <a:r>
              <a:rPr sz="1600" b="0">
                <a:solidFill>
                  <a:srgbClr val="9AA7BD"/>
                </a:solidFill>
                <a:latin typeface="Segoe UI"/>
              </a:rPr>
              <a:t> ligando dados a impacto financeiro do negócio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 b="1">
                <a:solidFill>
                  <a:srgbClr val="2DD4BF"/>
                </a:solidFill>
                <a:latin typeface="Segoe UI"/>
              </a:rPr>
              <a:t>▪  </a:t>
            </a:r>
            <a:r>
              <a:rPr sz="1600" b="1">
                <a:solidFill>
                  <a:srgbClr val="EAF0FB"/>
                </a:solidFill>
                <a:latin typeface="Segoe UI"/>
              </a:rPr>
              <a:t>Tiny Teams</a:t>
            </a:r>
            <a:r>
              <a:rPr sz="1600" b="0">
                <a:solidFill>
                  <a:srgbClr val="9AA7BD"/>
                </a:solidFill>
                <a:latin typeface="Segoe UI"/>
              </a:rPr>
              <a:t>: fazer mais com menos, escalando operação com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DD4BF"/>
                </a:solidFill>
                <a:latin typeface="Segoe UI"/>
              </a:rPr>
              <a:t>EM RESUMO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EAF0FB"/>
                </a:solidFill>
                <a:latin typeface="Segoe UI"/>
              </a:rPr>
              <a:t>Uma visão consolidada — pronta para discutir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9AA7BD"/>
                </a:solidFill>
                <a:latin typeface="Segoe UI"/>
              </a:rPr>
              <a:t>Seis áreas de atuação detalhadas, 15+ pessoas formadas, um produto de IA em crescimento acelerado e uma operação mais barata e mais confiável. Trouxe esse panorama para darmos visibilidade ao todo e </a:t>
            </a:r>
            <a:r>
              <a:rPr sz="1700" b="1">
                <a:solidFill>
                  <a:srgbClr val="EAF0FB"/>
                </a:solidFill>
                <a:latin typeface="Segoe UI"/>
              </a:rPr>
              <a:t>discutirmos juntos os próximos passos de cada frente.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06240"/>
            <a:ext cx="1828800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828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EAF0FB"/>
                </a:solidFill>
                <a:latin typeface="Segoe UI"/>
              </a:rPr>
              <a:t>Customer Success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4206240"/>
            <a:ext cx="964692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4206240"/>
            <a:ext cx="9646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EAF0FB"/>
                </a:solidFill>
                <a:latin typeface="Segoe UI"/>
              </a:rPr>
              <a:t>Produto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82212" y="4206240"/>
            <a:ext cx="125272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82212" y="4206240"/>
            <a:ext cx="12527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EAF0FB"/>
                </a:solidFill>
                <a:latin typeface="Segoe UI"/>
              </a:rPr>
              <a:t>Engenharia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7820" y="4206240"/>
            <a:ext cx="772668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7820" y="4206240"/>
            <a:ext cx="77266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EAF0FB"/>
                </a:solidFill>
                <a:latin typeface="Segoe UI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73368" y="4206240"/>
            <a:ext cx="1444752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4206240"/>
            <a:ext cx="14447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EAF0FB"/>
                </a:solidFill>
                <a:latin typeface="Segoe UI"/>
              </a:rPr>
              <a:t>IT &amp; Suporte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206240"/>
            <a:ext cx="2116836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206240"/>
            <a:ext cx="2116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EAF0FB"/>
                </a:solidFill>
                <a:latin typeface="Segoe UI"/>
              </a:rPr>
              <a:t>Arquitetura &amp; Nuvem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46320"/>
            <a:ext cx="1924812" cy="502920"/>
          </a:xfrm>
          <a:prstGeom prst="roundRect">
            <a:avLst>
              <a:gd name="adj" fmla="val 6000"/>
            </a:avLst>
          </a:prstGeom>
          <a:solidFill>
            <a:srgbClr val="18223A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846320"/>
            <a:ext cx="192481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EAF0FB"/>
                </a:solidFill>
                <a:latin typeface="Segoe UI"/>
              </a:rPr>
              <a:t>Times &amp;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00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A7BD"/>
                </a:solidFill>
                <a:latin typeface="Segoe UI"/>
              </a:rPr>
              <a:t>Starbem · Áreas de Atuação &amp; Impacto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AA7BD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