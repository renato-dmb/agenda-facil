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DD4BF"/>
                </a:solidFill>
                <a:latin typeface="Segoe UI"/>
              </a:rPr>
              <a:t>★ STARBEM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600" b="1">
                <a:solidFill>
                  <a:srgbClr val="EAF0FB"/>
                </a:solidFill>
                <a:latin typeface="Segoe UI"/>
              </a:rPr>
              <a:t>Áreas de Atuação &amp; Impacto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40480"/>
            <a:ext cx="8686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700" b="0">
                <a:solidFill>
                  <a:srgbClr val="9AA7BD"/>
                </a:solidFill>
                <a:latin typeface="Segoe UI"/>
              </a:rPr>
              <a:t>Uma visão consolidada das frentes que conduzo hoje na companhia — do produto à infraestrutura, passando por dados, CS, suporte e times.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3949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9AA7BD"/>
                </a:solidFill>
                <a:latin typeface="Segoe UI"/>
              </a:rPr>
              <a:t>Renato · Tecnologia, Produto, Dados &amp; CS · Junho/2026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2DD4BF"/>
                </a:solidFill>
                <a:latin typeface="Segoe UI"/>
              </a:rPr>
              <a:t>ONDE EU ATUO HOJE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EAF0FB"/>
                </a:solidFill>
                <a:latin typeface="Segoe UI"/>
              </a:rPr>
              <a:t>Seis frentes, uma operação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400" b="0">
                <a:solidFill>
                  <a:srgbClr val="9AA7BD"/>
                </a:solidFill>
                <a:latin typeface="Segoe UI"/>
              </a:rPr>
              <a:t>Cada frente equivale, no mercado, a um cargo de diretoria ou liderança — e por trás de cada uma há um líder em desenvolvimento.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788920"/>
            <a:ext cx="3337560" cy="1600200"/>
          </a:xfrm>
          <a:prstGeom prst="roundRect">
            <a:avLst>
              <a:gd name="adj" fmla="val 7000"/>
            </a:avLst>
          </a:prstGeom>
          <a:solidFill>
            <a:srgbClr val="18223A"/>
          </a:solidFill>
          <a:ln w="12700">
            <a:solidFill>
              <a:srgbClr val="2A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971800"/>
            <a:ext cx="2880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AF0FB"/>
                </a:solidFill>
                <a:latin typeface="Segoe UI"/>
              </a:rPr>
              <a:t>Customer Success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50" b="0">
                <a:solidFill>
                  <a:srgbClr val="9AA7BD"/>
                </a:solidFill>
                <a:latin typeface="Segoe UI"/>
              </a:rPr>
              <a:t>Estrutura, implantação e ciclo de vida do cliente.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2788920"/>
            <a:ext cx="3337560" cy="1600200"/>
          </a:xfrm>
          <a:prstGeom prst="roundRect">
            <a:avLst>
              <a:gd name="adj" fmla="val 7000"/>
            </a:avLst>
          </a:prstGeom>
          <a:solidFill>
            <a:srgbClr val="18223A"/>
          </a:solidFill>
          <a:ln w="12700">
            <a:solidFill>
              <a:srgbClr val="2A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54296" y="2971800"/>
            <a:ext cx="2880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AF0FB"/>
                </a:solidFill>
                <a:latin typeface="Segoe UI"/>
              </a:rPr>
              <a:t>Produto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50" b="0">
                <a:solidFill>
                  <a:srgbClr val="9AA7BD"/>
                </a:solidFill>
                <a:latin typeface="Segoe UI"/>
              </a:rPr>
              <a:t>B2C, profissional, RH (NR1) e parcerias — 5 OKRs.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28431" y="2788920"/>
            <a:ext cx="3337560" cy="1600200"/>
          </a:xfrm>
          <a:prstGeom prst="roundRect">
            <a:avLst>
              <a:gd name="adj" fmla="val 7000"/>
            </a:avLst>
          </a:prstGeom>
          <a:solidFill>
            <a:srgbClr val="18223A"/>
          </a:solidFill>
          <a:ln w="12700">
            <a:solidFill>
              <a:srgbClr val="2A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57031" y="2971800"/>
            <a:ext cx="2880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AF0FB"/>
                </a:solidFill>
                <a:latin typeface="Segoe UI"/>
              </a:rPr>
              <a:t>Engenharia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50" b="0">
                <a:solidFill>
                  <a:srgbClr val="9AA7BD"/>
                </a:solidFill>
                <a:latin typeface="Segoe UI"/>
              </a:rPr>
              <a:t>Plataforma, segurança, IA e novos modelos de operação.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617720"/>
            <a:ext cx="3337560" cy="1600200"/>
          </a:xfrm>
          <a:prstGeom prst="roundRect">
            <a:avLst>
              <a:gd name="adj" fmla="val 7000"/>
            </a:avLst>
          </a:prstGeom>
          <a:solidFill>
            <a:srgbClr val="18223A"/>
          </a:solidFill>
          <a:ln w="12700">
            <a:solidFill>
              <a:srgbClr val="2A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800600"/>
            <a:ext cx="2880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AF0FB"/>
                </a:solidFill>
                <a:latin typeface="Segoe UI"/>
              </a:rPr>
              <a:t>Dados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50" b="0">
                <a:solidFill>
                  <a:srgbClr val="9AA7BD"/>
                </a:solidFill>
                <a:latin typeface="Segoe UI"/>
              </a:rPr>
              <a:t>Datalake e inteligência preditiva/prescritiva.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25696" y="4617720"/>
            <a:ext cx="3337560" cy="1600200"/>
          </a:xfrm>
          <a:prstGeom prst="roundRect">
            <a:avLst>
              <a:gd name="adj" fmla="val 7000"/>
            </a:avLst>
          </a:prstGeom>
          <a:solidFill>
            <a:srgbClr val="18223A"/>
          </a:solidFill>
          <a:ln w="12700">
            <a:solidFill>
              <a:srgbClr val="2A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54296" y="4800600"/>
            <a:ext cx="2880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AF0FB"/>
                </a:solidFill>
                <a:latin typeface="Segoe UI"/>
              </a:rPr>
              <a:t>IT &amp; Suporte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50" b="0">
                <a:solidFill>
                  <a:srgbClr val="9AA7BD"/>
                </a:solidFill>
                <a:latin typeface="Segoe UI"/>
              </a:rPr>
              <a:t>Tickets, integração com CS/Produto e custos.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8431" y="4617720"/>
            <a:ext cx="3337560" cy="1600200"/>
          </a:xfrm>
          <a:prstGeom prst="roundRect">
            <a:avLst>
              <a:gd name="adj" fmla="val 7000"/>
            </a:avLst>
          </a:prstGeom>
          <a:solidFill>
            <a:srgbClr val="18223A"/>
          </a:solidFill>
          <a:ln w="12700">
            <a:solidFill>
              <a:srgbClr val="2A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57031" y="4800600"/>
            <a:ext cx="2880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AF0FB"/>
                </a:solidFill>
                <a:latin typeface="Segoe UI"/>
              </a:rPr>
              <a:t>Principal Engineer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50" b="0">
                <a:solidFill>
                  <a:srgbClr val="9AA7BD"/>
                </a:solidFill>
                <a:latin typeface="Segoe UI"/>
              </a:rPr>
              <a:t>Arquitetura, nuvem e fornecedores estratégicos.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9AA7BD"/>
                </a:solidFill>
                <a:latin typeface="Segoe UI"/>
              </a:rPr>
              <a:t>Starbem · Áreas de Atuação &amp; Impacto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AA7BD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2DD4BF"/>
                </a:solidFill>
                <a:latin typeface="Segoe UI"/>
              </a:rPr>
              <a:t>ÁREA 1 · CUSTOMER SUCCESS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EAF0FB"/>
                </a:solidFill>
                <a:latin typeface="Segoe UI"/>
              </a:rPr>
              <a:t>Estruturei o CS de ponta a ponta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5120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1">
                <a:solidFill>
                  <a:srgbClr val="F4B740"/>
                </a:solidFill>
                <a:latin typeface="Segoe UI"/>
              </a:rPr>
              <a:t>OPERAÇÃO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00" b="1">
                <a:solidFill>
                  <a:srgbClr val="2DD4BF"/>
                </a:solidFill>
                <a:latin typeface="Segoe UI"/>
              </a:rPr>
              <a:t>▪  </a:t>
            </a:r>
            <a:r>
              <a:rPr sz="1400" b="0">
                <a:solidFill>
                  <a:srgbClr val="9AA7BD"/>
                </a:solidFill>
                <a:latin typeface="Segoe UI"/>
              </a:rPr>
              <a:t>Estruturação da área e do modelo de </a:t>
            </a:r>
            <a:r>
              <a:rPr sz="1400" b="1">
                <a:solidFill>
                  <a:srgbClr val="EAF0FB"/>
                </a:solidFill>
                <a:latin typeface="Segoe UI"/>
              </a:rPr>
              <a:t>CSM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00" b="1">
                <a:solidFill>
                  <a:srgbClr val="2DD4BF"/>
                </a:solidFill>
                <a:latin typeface="Segoe UI"/>
              </a:rPr>
              <a:t>▪  </a:t>
            </a:r>
            <a:r>
              <a:rPr sz="1400" b="0">
                <a:solidFill>
                  <a:srgbClr val="9AA7BD"/>
                </a:solidFill>
                <a:latin typeface="Segoe UI"/>
              </a:rPr>
              <a:t>Novo modelo de operação de </a:t>
            </a:r>
            <a:r>
              <a:rPr sz="1400" b="1">
                <a:solidFill>
                  <a:srgbClr val="EAF0FB"/>
                </a:solidFill>
                <a:latin typeface="Segoe UI"/>
              </a:rPr>
              <a:t>implantação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00" b="1">
                <a:solidFill>
                  <a:srgbClr val="2DD4BF"/>
                </a:solidFill>
                <a:latin typeface="Segoe UI"/>
              </a:rPr>
              <a:t>▪  </a:t>
            </a:r>
            <a:r>
              <a:rPr sz="1400" b="0">
                <a:solidFill>
                  <a:srgbClr val="9AA7BD"/>
                </a:solidFill>
                <a:latin typeface="Segoe UI"/>
              </a:rPr>
              <a:t>Processo fim a fim: </a:t>
            </a:r>
            <a:r>
              <a:rPr sz="1400" b="1">
                <a:solidFill>
                  <a:srgbClr val="EAF0FB"/>
                </a:solidFill>
                <a:latin typeface="Segoe UI"/>
              </a:rPr>
              <a:t>Vendas → Implantação → Manutenção → Expansão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00" b="1">
                <a:solidFill>
                  <a:srgbClr val="2DD4BF"/>
                </a:solidFill>
                <a:latin typeface="Segoe UI"/>
              </a:rPr>
              <a:t>▪  </a:t>
            </a:r>
            <a:r>
              <a:rPr sz="1400" b="0">
                <a:solidFill>
                  <a:srgbClr val="9AA7BD"/>
                </a:solidFill>
                <a:latin typeface="Segoe UI"/>
              </a:rPr>
              <a:t>Automação e troca da liderança de CX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2194560"/>
            <a:ext cx="5120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1">
                <a:solidFill>
                  <a:srgbClr val="F4B740"/>
                </a:solidFill>
                <a:latin typeface="Segoe UI"/>
              </a:rPr>
              <a:t>LIDERANÇA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00" b="1">
                <a:solidFill>
                  <a:srgbClr val="2DD4BF"/>
                </a:solidFill>
                <a:latin typeface="Segoe UI"/>
              </a:rPr>
              <a:t>▪  </a:t>
            </a:r>
            <a:r>
              <a:rPr sz="1400" b="0">
                <a:solidFill>
                  <a:srgbClr val="9AA7BD"/>
                </a:solidFill>
                <a:latin typeface="Segoe UI"/>
              </a:rPr>
              <a:t>Plano de transformação da área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00" b="1">
                <a:solidFill>
                  <a:srgbClr val="2DD4BF"/>
                </a:solidFill>
                <a:latin typeface="Segoe UI"/>
              </a:rPr>
              <a:t>▪  </a:t>
            </a:r>
            <a:r>
              <a:rPr sz="1400" b="0">
                <a:solidFill>
                  <a:srgbClr val="9AA7BD"/>
                </a:solidFill>
                <a:latin typeface="Segoe UI"/>
              </a:rPr>
              <a:t>Desenvolvimento do líder para voar solo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00" b="1">
                <a:solidFill>
                  <a:srgbClr val="2DD4BF"/>
                </a:solidFill>
                <a:latin typeface="Segoe UI"/>
              </a:rPr>
              <a:t>▪  </a:t>
            </a:r>
            <a:r>
              <a:rPr sz="1400" b="0">
                <a:solidFill>
                  <a:srgbClr val="9AA7BD"/>
                </a:solidFill>
                <a:latin typeface="Segoe UI"/>
              </a:rPr>
              <a:t>Apoio nos processos seletivos e na escolha de pessoas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00" b="1">
                <a:solidFill>
                  <a:srgbClr val="2DD4BF"/>
                </a:solidFill>
                <a:latin typeface="Segoe UI"/>
              </a:rPr>
              <a:t>▪  </a:t>
            </a:r>
            <a:r>
              <a:rPr sz="1400" b="0">
                <a:solidFill>
                  <a:srgbClr val="9AA7BD"/>
                </a:solidFill>
                <a:latin typeface="Segoe UI"/>
              </a:rPr>
              <a:t>Atuação direta na troca de pessoas-chave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9AA7BD"/>
                </a:solidFill>
                <a:latin typeface="Segoe UI"/>
              </a:rPr>
              <a:t>Starbem · Áreas de Atuação &amp; Impacto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AA7BD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2DD4BF"/>
                </a:solidFill>
                <a:latin typeface="Segoe UI"/>
              </a:rPr>
              <a:t>ÁREA 2 · PRODUTO · 5 OKRS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EAF0FB"/>
                </a:solidFill>
                <a:latin typeface="Segoe UI"/>
              </a:rPr>
              <a:t>Produto em quatro frentes simultâneas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5120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1">
                <a:solidFill>
                  <a:srgbClr val="F4B740"/>
                </a:solidFill>
                <a:latin typeface="Segoe UI"/>
              </a:rPr>
              <a:t>PACIENTE (B2C)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300" b="1">
                <a:solidFill>
                  <a:srgbClr val="2DD4BF"/>
                </a:solidFill>
                <a:latin typeface="Segoe UI"/>
              </a:rPr>
              <a:t>▪  </a:t>
            </a:r>
            <a:r>
              <a:rPr sz="1300" b="0">
                <a:solidFill>
                  <a:srgbClr val="9AA7BD"/>
                </a:solidFill>
                <a:latin typeface="Segoe UI"/>
              </a:rPr>
              <a:t>Cross Service, canal </a:t>
            </a:r>
            <a:r>
              <a:rPr sz="1300" b="1">
                <a:solidFill>
                  <a:srgbClr val="EAF0FB"/>
                </a:solidFill>
                <a:latin typeface="Segoe UI"/>
              </a:rPr>
              <a:t>WhatsApp</a:t>
            </a:r>
            <a:r>
              <a:rPr sz="1300" b="0">
                <a:solidFill>
                  <a:srgbClr val="9AA7BD"/>
                </a:solidFill>
                <a:latin typeface="Segoe UI"/>
              </a:rPr>
              <a:t>, </a:t>
            </a:r>
            <a:r>
              <a:rPr sz="1300" b="1">
                <a:solidFill>
                  <a:srgbClr val="EAF0FB"/>
                </a:solidFill>
                <a:latin typeface="Segoe UI"/>
              </a:rPr>
              <a:t>StarBrain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300" b="1">
                <a:solidFill>
                  <a:srgbClr val="2DD4BF"/>
                </a:solidFill>
                <a:latin typeface="Segoe UI"/>
              </a:rPr>
              <a:t>▪  </a:t>
            </a:r>
            <a:r>
              <a:rPr sz="1300" b="0">
                <a:solidFill>
                  <a:srgbClr val="9AA7BD"/>
                </a:solidFill>
                <a:latin typeface="Segoe UI"/>
              </a:rPr>
              <a:t>Jornada </a:t>
            </a:r>
            <a:r>
              <a:rPr sz="1300" b="1">
                <a:solidFill>
                  <a:srgbClr val="EAF0FB"/>
                </a:solidFill>
                <a:latin typeface="Segoe UI"/>
              </a:rPr>
              <a:t>Shapeme</a:t>
            </a:r>
            <a:r>
              <a:rPr sz="1300" b="0">
                <a:solidFill>
                  <a:srgbClr val="9AA7BD"/>
                </a:solidFill>
                <a:latin typeface="Segoe UI"/>
              </a:rPr>
              <a:t> e evolução do B2C + faturamento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250" b="1">
                <a:solidFill>
                  <a:srgbClr val="F4B740"/>
                </a:solidFill>
                <a:latin typeface="Segoe UI"/>
              </a:rPr>
              <a:t>PROFISSIONAL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300" b="1">
                <a:solidFill>
                  <a:srgbClr val="2DD4BF"/>
                </a:solidFill>
                <a:latin typeface="Segoe UI"/>
              </a:rPr>
              <a:t>▪  </a:t>
            </a:r>
            <a:r>
              <a:rPr sz="1300" b="0">
                <a:solidFill>
                  <a:srgbClr val="9AA7BD"/>
                </a:solidFill>
                <a:latin typeface="Segoe UI"/>
              </a:rPr>
              <a:t>Videochamadas, NPS, </a:t>
            </a:r>
            <a:r>
              <a:rPr sz="1300" b="1">
                <a:solidFill>
                  <a:srgbClr val="EAF0FB"/>
                </a:solidFill>
                <a:latin typeface="Segoe UI"/>
              </a:rPr>
              <a:t>prontuário automatizado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300" b="1">
                <a:solidFill>
                  <a:srgbClr val="2DD4BF"/>
                </a:solidFill>
                <a:latin typeface="Segoe UI"/>
              </a:rPr>
              <a:t>▪  </a:t>
            </a:r>
            <a:r>
              <a:rPr sz="1300" b="0">
                <a:solidFill>
                  <a:srgbClr val="9AA7BD"/>
                </a:solidFill>
                <a:latin typeface="Segoe UI"/>
              </a:rPr>
              <a:t>Automação de cadastro/consumo/NF · agendas e faturamento TP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2194560"/>
            <a:ext cx="5120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1">
                <a:solidFill>
                  <a:srgbClr val="F4B740"/>
                </a:solidFill>
                <a:latin typeface="Segoe UI"/>
              </a:rPr>
              <a:t>RH (NR1)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300" b="1">
                <a:solidFill>
                  <a:srgbClr val="2DD4BF"/>
                </a:solidFill>
                <a:latin typeface="Segoe UI"/>
              </a:rPr>
              <a:t>▪  </a:t>
            </a:r>
            <a:r>
              <a:rPr sz="1300" b="1">
                <a:solidFill>
                  <a:srgbClr val="EAF0FB"/>
                </a:solidFill>
                <a:latin typeface="Segoe UI"/>
              </a:rPr>
              <a:t>NR1</a:t>
            </a:r>
            <a:r>
              <a:rPr sz="1300" b="0">
                <a:solidFill>
                  <a:srgbClr val="9AA7BD"/>
                </a:solidFill>
                <a:latin typeface="Segoe UI"/>
              </a:rPr>
              <a:t> e Portal RH · multi-tiers (Produto 1–4)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300" b="1">
                <a:solidFill>
                  <a:srgbClr val="2DD4BF"/>
                </a:solidFill>
                <a:latin typeface="Segoe UI"/>
              </a:rPr>
              <a:t>▪  </a:t>
            </a:r>
            <a:r>
              <a:rPr sz="1300" b="0">
                <a:solidFill>
                  <a:srgbClr val="9AA7BD"/>
                </a:solidFill>
                <a:latin typeface="Segoe UI"/>
              </a:rPr>
              <a:t>Reuniões comerciais com clientes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250" b="1">
                <a:solidFill>
                  <a:srgbClr val="F4B740"/>
                </a:solidFill>
                <a:latin typeface="Segoe UI"/>
              </a:rPr>
              <a:t>PARCERIAS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300" b="1">
                <a:solidFill>
                  <a:srgbClr val="2DD4BF"/>
                </a:solidFill>
                <a:latin typeface="Segoe UI"/>
              </a:rPr>
              <a:t>▪  </a:t>
            </a:r>
            <a:r>
              <a:rPr sz="1300" b="0">
                <a:solidFill>
                  <a:srgbClr val="9AA7BD"/>
                </a:solidFill>
                <a:latin typeface="Segoe UI"/>
              </a:rPr>
              <a:t>API V2, </a:t>
            </a:r>
            <a:r>
              <a:rPr sz="1300" b="1">
                <a:solidFill>
                  <a:srgbClr val="EAF0FB"/>
                </a:solidFill>
                <a:latin typeface="Segoe UI"/>
              </a:rPr>
              <a:t>iFood</a:t>
            </a:r>
            <a:r>
              <a:rPr sz="1300" b="0">
                <a:solidFill>
                  <a:srgbClr val="9AA7BD"/>
                </a:solidFill>
                <a:latin typeface="Segoe UI"/>
              </a:rPr>
              <a:t>, TotalPass, Claro · custos de LLM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300" b="1">
                <a:solidFill>
                  <a:srgbClr val="2DD4BF"/>
                </a:solidFill>
                <a:latin typeface="Segoe UI"/>
              </a:rPr>
              <a:t>▪  </a:t>
            </a:r>
            <a:r>
              <a:rPr sz="1300" b="0">
                <a:solidFill>
                  <a:srgbClr val="9AA7BD"/>
                </a:solidFill>
                <a:latin typeface="Segoe UI"/>
              </a:rPr>
              <a:t>Novos produtos para parceiros (Shapeme)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9AA7BD"/>
                </a:solidFill>
                <a:latin typeface="Segoe UI"/>
              </a:rPr>
              <a:t>Starbem · Áreas de Atuação &amp; Impacto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AA7BD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2DD4BF"/>
                </a:solidFill>
                <a:latin typeface="Segoe UI"/>
              </a:rPr>
              <a:t>ÁREA 3 · ENGENHARIA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EAF0FB"/>
                </a:solidFill>
                <a:latin typeface="Segoe UI"/>
              </a:rPr>
              <a:t>Plataforma, segurança e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5120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1">
                <a:solidFill>
                  <a:srgbClr val="F4B740"/>
                </a:solidFill>
                <a:latin typeface="Segoe UI"/>
              </a:rPr>
              <a:t>CONSTRUÇÃO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00" b="1">
                <a:solidFill>
                  <a:srgbClr val="2DD4BF"/>
                </a:solidFill>
                <a:latin typeface="Segoe UI"/>
              </a:rPr>
              <a:t>▪  </a:t>
            </a:r>
            <a:r>
              <a:rPr sz="1400" b="0">
                <a:solidFill>
                  <a:srgbClr val="9AA7BD"/>
                </a:solidFill>
                <a:latin typeface="Segoe UI"/>
              </a:rPr>
              <a:t>Acompanhamento semanal da </a:t>
            </a:r>
            <a:r>
              <a:rPr sz="1400" b="1">
                <a:solidFill>
                  <a:srgbClr val="EAF0FB"/>
                </a:solidFill>
                <a:latin typeface="Segoe UI"/>
              </a:rPr>
              <a:t>qualidade de chamada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00" b="1">
                <a:solidFill>
                  <a:srgbClr val="2DD4BF"/>
                </a:solidFill>
                <a:latin typeface="Segoe UI"/>
              </a:rPr>
              <a:t>▪  </a:t>
            </a:r>
            <a:r>
              <a:rPr sz="1400" b="0">
                <a:solidFill>
                  <a:srgbClr val="9AA7BD"/>
                </a:solidFill>
                <a:latin typeface="Segoe UI"/>
              </a:rPr>
              <a:t>Segurança com a </a:t>
            </a:r>
            <a:r>
              <a:rPr sz="1400" b="1">
                <a:solidFill>
                  <a:srgbClr val="EAF0FB"/>
                </a:solidFill>
                <a:latin typeface="Segoe UI"/>
              </a:rPr>
              <a:t>Tempest</a:t>
            </a:r>
            <a:r>
              <a:rPr sz="1400" b="0">
                <a:solidFill>
                  <a:srgbClr val="9AA7BD"/>
                </a:solidFill>
                <a:latin typeface="Segoe UI"/>
              </a:rPr>
              <a:t> + próximos passos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00" b="1">
                <a:solidFill>
                  <a:srgbClr val="2DD4BF"/>
                </a:solidFill>
                <a:latin typeface="Segoe UI"/>
              </a:rPr>
              <a:t>▪  </a:t>
            </a:r>
            <a:r>
              <a:rPr sz="1400" b="0">
                <a:solidFill>
                  <a:srgbClr val="9AA7BD"/>
                </a:solidFill>
                <a:latin typeface="Segoe UI"/>
              </a:rPr>
              <a:t>Construção do produto </a:t>
            </a:r>
            <a:r>
              <a:rPr sz="1400" b="1">
                <a:solidFill>
                  <a:srgbClr val="EAF0FB"/>
                </a:solidFill>
                <a:latin typeface="Segoe UI"/>
              </a:rPr>
              <a:t>Shapeme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00" b="1">
                <a:solidFill>
                  <a:srgbClr val="2DD4BF"/>
                </a:solidFill>
                <a:latin typeface="Segoe UI"/>
              </a:rPr>
              <a:t>▪  </a:t>
            </a:r>
            <a:r>
              <a:rPr sz="1400" b="0">
                <a:solidFill>
                  <a:srgbClr val="9AA7BD"/>
                </a:solidFill>
                <a:latin typeface="Segoe UI"/>
              </a:rPr>
              <a:t>Plataforma </a:t>
            </a:r>
            <a:r>
              <a:rPr sz="1400" b="1">
                <a:solidFill>
                  <a:srgbClr val="EAF0FB"/>
                </a:solidFill>
                <a:latin typeface="Segoe UI"/>
              </a:rPr>
              <a:t>Tiny Teams</a:t>
            </a:r>
            <a:r>
              <a:rPr sz="1400" b="0">
                <a:solidFill>
                  <a:srgbClr val="9AA7BD"/>
                </a:solidFill>
                <a:latin typeface="Segoe UI"/>
              </a:rPr>
              <a:t> e novo modelo de operação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00" b="1">
                <a:solidFill>
                  <a:srgbClr val="2DD4BF"/>
                </a:solidFill>
                <a:latin typeface="Segoe UI"/>
              </a:rPr>
              <a:t>▪  </a:t>
            </a:r>
            <a:r>
              <a:rPr sz="1400" b="0">
                <a:solidFill>
                  <a:srgbClr val="9AA7BD"/>
                </a:solidFill>
                <a:latin typeface="Segoe UI"/>
              </a:rPr>
              <a:t>Camada agêntica </a:t>
            </a:r>
            <a:r>
              <a:rPr sz="1400" b="1">
                <a:solidFill>
                  <a:srgbClr val="EAF0FB"/>
                </a:solidFill>
                <a:latin typeface="Segoe UI"/>
              </a:rPr>
              <a:t>ExABI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2194560"/>
            <a:ext cx="5120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1">
                <a:solidFill>
                  <a:srgbClr val="F4B740"/>
                </a:solidFill>
                <a:latin typeface="Segoe UI"/>
              </a:rPr>
              <a:t>LIDERANÇA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00" b="1">
                <a:solidFill>
                  <a:srgbClr val="2DD4BF"/>
                </a:solidFill>
                <a:latin typeface="Segoe UI"/>
              </a:rPr>
              <a:t>▪  </a:t>
            </a:r>
            <a:r>
              <a:rPr sz="1400" b="0">
                <a:solidFill>
                  <a:srgbClr val="9AA7BD"/>
                </a:solidFill>
                <a:latin typeface="Segoe UI"/>
              </a:rPr>
              <a:t>Desenvolvimento da líder para atuação estratégica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00" b="1">
                <a:solidFill>
                  <a:srgbClr val="2DD4BF"/>
                </a:solidFill>
                <a:latin typeface="Segoe UI"/>
              </a:rPr>
              <a:t>▪  </a:t>
            </a:r>
            <a:r>
              <a:rPr sz="1400" b="0">
                <a:solidFill>
                  <a:srgbClr val="9AA7BD"/>
                </a:solidFill>
                <a:latin typeface="Segoe UI"/>
              </a:rPr>
              <a:t>Troca de pessoas-chave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00" b="1">
                <a:solidFill>
                  <a:srgbClr val="2DD4BF"/>
                </a:solidFill>
                <a:latin typeface="Segoe UI"/>
              </a:rPr>
              <a:t>▪  </a:t>
            </a:r>
            <a:r>
              <a:rPr sz="1400" b="0">
                <a:solidFill>
                  <a:srgbClr val="9AA7BD"/>
                </a:solidFill>
                <a:latin typeface="Segoe UI"/>
              </a:rPr>
              <a:t>Novos modelos de operação de engenharia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00" b="1">
                <a:solidFill>
                  <a:srgbClr val="2DD4BF"/>
                </a:solidFill>
                <a:latin typeface="Segoe UI"/>
              </a:rPr>
              <a:t>▪  </a:t>
            </a:r>
            <a:r>
              <a:rPr sz="1400" b="0">
                <a:solidFill>
                  <a:srgbClr val="9AA7BD"/>
                </a:solidFill>
                <a:latin typeface="Segoe UI"/>
              </a:rPr>
              <a:t>Engenharia </a:t>
            </a:r>
            <a:r>
              <a:rPr sz="1400" b="1">
                <a:solidFill>
                  <a:srgbClr val="EAF0FB"/>
                </a:solidFill>
                <a:latin typeface="Segoe UI"/>
              </a:rPr>
              <a:t>cross-área</a:t>
            </a:r>
            <a:r>
              <a:rPr sz="1400" b="0">
                <a:solidFill>
                  <a:srgbClr val="9AA7BD"/>
                </a:solidFill>
                <a:latin typeface="Segoe UI"/>
              </a:rPr>
              <a:t> (ex.: CS AI Engineering)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9AA7BD"/>
                </a:solidFill>
                <a:latin typeface="Segoe UI"/>
              </a:rPr>
              <a:t>Starbem · Áreas de Atuação &amp; Impacto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AA7BD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2DD4BF"/>
                </a:solidFill>
                <a:latin typeface="Segoe UI"/>
              </a:rPr>
              <a:t>ÁREA 4 · DADOS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EAF0FB"/>
                </a:solidFill>
                <a:latin typeface="Segoe UI"/>
              </a:rPr>
              <a:t>Da arquitetura à inteligência preditiva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5120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1">
                <a:solidFill>
                  <a:srgbClr val="F4B740"/>
                </a:solidFill>
                <a:latin typeface="Segoe UI"/>
              </a:rPr>
              <a:t>CONSTRUÇÃO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00" b="1">
                <a:solidFill>
                  <a:srgbClr val="2DD4BF"/>
                </a:solidFill>
                <a:latin typeface="Segoe UI"/>
              </a:rPr>
              <a:t>▪  </a:t>
            </a:r>
            <a:r>
              <a:rPr sz="1400" b="0">
                <a:solidFill>
                  <a:srgbClr val="9AA7BD"/>
                </a:solidFill>
                <a:latin typeface="Segoe UI"/>
              </a:rPr>
              <a:t>Estruturação do </a:t>
            </a:r>
            <a:r>
              <a:rPr sz="1400" b="1">
                <a:solidFill>
                  <a:srgbClr val="EAF0FB"/>
                </a:solidFill>
                <a:latin typeface="Segoe UI"/>
              </a:rPr>
              <a:t>Datalake</a:t>
            </a:r>
            <a:r>
              <a:rPr sz="1400" b="0">
                <a:solidFill>
                  <a:srgbClr val="9AA7BD"/>
                </a:solidFill>
                <a:latin typeface="Segoe UI"/>
              </a:rPr>
              <a:t> e da camada inteligente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00" b="1">
                <a:solidFill>
                  <a:srgbClr val="2DD4BF"/>
                </a:solidFill>
                <a:latin typeface="Segoe UI"/>
              </a:rPr>
              <a:t>▪  </a:t>
            </a:r>
            <a:r>
              <a:rPr sz="1400" b="0">
                <a:solidFill>
                  <a:srgbClr val="9AA7BD"/>
                </a:solidFill>
                <a:latin typeface="Segoe UI"/>
              </a:rPr>
              <a:t>Análises </a:t>
            </a:r>
            <a:r>
              <a:rPr sz="1400" b="1">
                <a:solidFill>
                  <a:srgbClr val="EAF0FB"/>
                </a:solidFill>
                <a:latin typeface="Segoe UI"/>
              </a:rPr>
              <a:t>preditivas e prescritivas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00" b="1">
                <a:solidFill>
                  <a:srgbClr val="2DD4BF"/>
                </a:solidFill>
                <a:latin typeface="Segoe UI"/>
              </a:rPr>
              <a:t>▪  </a:t>
            </a:r>
            <a:r>
              <a:rPr sz="1400" b="0">
                <a:solidFill>
                  <a:srgbClr val="9AA7BD"/>
                </a:solidFill>
                <a:latin typeface="Segoe UI"/>
              </a:rPr>
              <a:t>Reestruturação da arquitetura de dados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00" b="1">
                <a:solidFill>
                  <a:srgbClr val="2DD4BF"/>
                </a:solidFill>
                <a:latin typeface="Segoe UI"/>
              </a:rPr>
              <a:t>▪  </a:t>
            </a:r>
            <a:r>
              <a:rPr sz="1400" b="0">
                <a:solidFill>
                  <a:srgbClr val="9AA7BD"/>
                </a:solidFill>
                <a:latin typeface="Segoe UI"/>
              </a:rPr>
              <a:t>Camada de inteligência do negócio · contratações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2194560"/>
            <a:ext cx="5120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1">
                <a:solidFill>
                  <a:srgbClr val="F4B740"/>
                </a:solidFill>
                <a:latin typeface="Segoe UI"/>
              </a:rPr>
              <a:t>LIDERANÇA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00" b="1">
                <a:solidFill>
                  <a:srgbClr val="2DD4BF"/>
                </a:solidFill>
                <a:latin typeface="Segoe UI"/>
              </a:rPr>
              <a:t>▪  </a:t>
            </a:r>
            <a:r>
              <a:rPr sz="1400" b="0">
                <a:solidFill>
                  <a:srgbClr val="9AA7BD"/>
                </a:solidFill>
                <a:latin typeface="Segoe UI"/>
              </a:rPr>
              <a:t>PDI e desenvolvimento do time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00" b="1">
                <a:solidFill>
                  <a:srgbClr val="2DD4BF"/>
                </a:solidFill>
                <a:latin typeface="Segoe UI"/>
              </a:rPr>
              <a:t>▪  </a:t>
            </a:r>
            <a:r>
              <a:rPr sz="1400" b="0">
                <a:solidFill>
                  <a:srgbClr val="9AA7BD"/>
                </a:solidFill>
                <a:latin typeface="Segoe UI"/>
              </a:rPr>
              <a:t>People management e engajamento (Rodrigo)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00" b="1">
                <a:solidFill>
                  <a:srgbClr val="2DD4BF"/>
                </a:solidFill>
                <a:latin typeface="Segoe UI"/>
              </a:rPr>
              <a:t>▪  </a:t>
            </a:r>
            <a:r>
              <a:rPr sz="1400" b="0">
                <a:solidFill>
                  <a:srgbClr val="9AA7BD"/>
                </a:solidFill>
                <a:latin typeface="Segoe UI"/>
              </a:rPr>
              <a:t>Plano de crescimento: novo líder + analista de </a:t>
            </a:r>
            <a:r>
              <a:rPr sz="1400" b="1">
                <a:solidFill>
                  <a:srgbClr val="EAF0FB"/>
                </a:solidFill>
                <a:latin typeface="Segoe UI"/>
              </a:rPr>
              <a:t>impacto financeiro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9AA7BD"/>
                </a:solidFill>
                <a:latin typeface="Segoe UI"/>
              </a:rPr>
              <a:t>Starbem · Áreas de Atuação &amp; Impacto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AA7BD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2DD4BF"/>
                </a:solidFill>
                <a:latin typeface="Segoe UI"/>
              </a:rPr>
              <a:t>ÁREAS 5 E 6 · IT &amp; SUPORTE · PRINCIPAL ENGINEER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EAF0FB"/>
                </a:solidFill>
                <a:latin typeface="Segoe UI"/>
              </a:rPr>
              <a:t>A base que sustenta tudo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5120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1">
                <a:solidFill>
                  <a:srgbClr val="F4B740"/>
                </a:solidFill>
                <a:latin typeface="Segoe UI"/>
              </a:rPr>
              <a:t>IT &amp; SUPORTE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00" b="1">
                <a:solidFill>
                  <a:srgbClr val="2DD4BF"/>
                </a:solidFill>
                <a:latin typeface="Segoe UI"/>
              </a:rPr>
              <a:t>▪  </a:t>
            </a:r>
            <a:r>
              <a:rPr sz="1400" b="0">
                <a:solidFill>
                  <a:srgbClr val="9AA7BD"/>
                </a:solidFill>
                <a:latin typeface="Segoe UI"/>
              </a:rPr>
              <a:t>Estrutura de </a:t>
            </a:r>
            <a:r>
              <a:rPr sz="1400" b="1">
                <a:solidFill>
                  <a:srgbClr val="EAF0FB"/>
                </a:solidFill>
                <a:latin typeface="Segoe UI"/>
              </a:rPr>
              <a:t>tickets</a:t>
            </a:r>
            <a:r>
              <a:rPr sz="1400" b="0">
                <a:solidFill>
                  <a:srgbClr val="9AA7BD"/>
                </a:solidFill>
                <a:latin typeface="Segoe UI"/>
              </a:rPr>
              <a:t> e acompanhamento contínuo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00" b="1">
                <a:solidFill>
                  <a:srgbClr val="2DD4BF"/>
                </a:solidFill>
                <a:latin typeface="Segoe UI"/>
              </a:rPr>
              <a:t>▪  </a:t>
            </a:r>
            <a:r>
              <a:rPr sz="1400" b="0">
                <a:solidFill>
                  <a:srgbClr val="9AA7BD"/>
                </a:solidFill>
                <a:latin typeface="Segoe UI"/>
              </a:rPr>
              <a:t>Integração </a:t>
            </a:r>
            <a:r>
              <a:rPr sz="1400" b="1">
                <a:solidFill>
                  <a:srgbClr val="EAF0FB"/>
                </a:solidFill>
                <a:latin typeface="Segoe UI"/>
              </a:rPr>
              <a:t>Suporte ↔ CS ↔ Produto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00" b="1">
                <a:solidFill>
                  <a:srgbClr val="2DD4BF"/>
                </a:solidFill>
                <a:latin typeface="Segoe UI"/>
              </a:rPr>
              <a:t>▪  </a:t>
            </a:r>
            <a:r>
              <a:rPr sz="1400" b="0">
                <a:solidFill>
                  <a:srgbClr val="9AA7BD"/>
                </a:solidFill>
                <a:latin typeface="Segoe UI"/>
              </a:rPr>
              <a:t>Redução de custo no contrato de aluguel de PCs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2194560"/>
            <a:ext cx="5120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1">
                <a:solidFill>
                  <a:srgbClr val="F4B740"/>
                </a:solidFill>
                <a:latin typeface="Segoe UI"/>
              </a:rPr>
              <a:t>PRINCIPAL ENGINEER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00" b="1">
                <a:solidFill>
                  <a:srgbClr val="2DD4BF"/>
                </a:solidFill>
                <a:latin typeface="Segoe UI"/>
              </a:rPr>
              <a:t>▪  </a:t>
            </a:r>
            <a:r>
              <a:rPr sz="1400" b="0">
                <a:solidFill>
                  <a:srgbClr val="9AA7BD"/>
                </a:solidFill>
                <a:latin typeface="Segoe UI"/>
              </a:rPr>
              <a:t>Análise semanal de </a:t>
            </a:r>
            <a:r>
              <a:rPr sz="1400" b="1">
                <a:solidFill>
                  <a:srgbClr val="EAF0FB"/>
                </a:solidFill>
                <a:latin typeface="Segoe UI"/>
              </a:rPr>
              <a:t>bugs estruturais</a:t>
            </a:r>
            <a:r>
              <a:rPr sz="1400" b="0">
                <a:solidFill>
                  <a:srgbClr val="9AA7BD"/>
                </a:solidFill>
                <a:latin typeface="Segoe UI"/>
              </a:rPr>
              <a:t> (com Júlio)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00" b="1">
                <a:solidFill>
                  <a:srgbClr val="2DD4BF"/>
                </a:solidFill>
                <a:latin typeface="Segoe UI"/>
              </a:rPr>
              <a:t>▪  </a:t>
            </a:r>
            <a:r>
              <a:rPr sz="1400" b="0">
                <a:solidFill>
                  <a:srgbClr val="9AA7BD"/>
                </a:solidFill>
                <a:latin typeface="Segoe UI"/>
              </a:rPr>
              <a:t>Desenho arquitetural das soluções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00" b="1">
                <a:solidFill>
                  <a:srgbClr val="2DD4BF"/>
                </a:solidFill>
                <a:latin typeface="Segoe UI"/>
              </a:rPr>
              <a:t>▪  </a:t>
            </a:r>
            <a:r>
              <a:rPr sz="1400" b="0">
                <a:solidFill>
                  <a:srgbClr val="9AA7BD"/>
                </a:solidFill>
                <a:latin typeface="Segoe UI"/>
              </a:rPr>
              <a:t>Nuvem: </a:t>
            </a:r>
            <a:r>
              <a:rPr sz="1400" b="1">
                <a:solidFill>
                  <a:srgbClr val="EAF0FB"/>
                </a:solidFill>
                <a:latin typeface="Segoe UI"/>
              </a:rPr>
              <a:t>troca AWS</a:t>
            </a:r>
            <a:r>
              <a:rPr sz="1400" b="0">
                <a:solidFill>
                  <a:srgbClr val="9AA7BD"/>
                </a:solidFill>
                <a:latin typeface="Segoe UI"/>
              </a:rPr>
              <a:t> e custo de infra ~0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00" b="1">
                <a:solidFill>
                  <a:srgbClr val="2DD4BF"/>
                </a:solidFill>
                <a:latin typeface="Segoe UI"/>
              </a:rPr>
              <a:t>▪  </a:t>
            </a:r>
            <a:r>
              <a:rPr sz="1400" b="0">
                <a:solidFill>
                  <a:srgbClr val="9AA7BD"/>
                </a:solidFill>
                <a:latin typeface="Segoe UI"/>
              </a:rPr>
              <a:t>Fornecedores: </a:t>
            </a:r>
            <a:r>
              <a:rPr sz="1400" b="1">
                <a:solidFill>
                  <a:srgbClr val="EAF0FB"/>
                </a:solidFill>
                <a:latin typeface="Segoe UI"/>
              </a:rPr>
              <a:t>Agora.io</a:t>
            </a:r>
            <a:r>
              <a:rPr sz="1400" b="0">
                <a:solidFill>
                  <a:srgbClr val="9AA7BD"/>
                </a:solidFill>
                <a:latin typeface="Segoe UI"/>
              </a:rPr>
              <a:t> e </a:t>
            </a:r>
            <a:r>
              <a:rPr sz="1400" b="1">
                <a:solidFill>
                  <a:srgbClr val="EAF0FB"/>
                </a:solidFill>
                <a:latin typeface="Segoe UI"/>
              </a:rPr>
              <a:t>Twilio</a:t>
            </a:r>
            <a:r>
              <a:rPr sz="1400" b="0">
                <a:solidFill>
                  <a:srgbClr val="9AA7BD"/>
                </a:solidFill>
                <a:latin typeface="Segoe UI"/>
              </a:rPr>
              <a:t> (renegociação)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9AA7BD"/>
                </a:solidFill>
                <a:latin typeface="Segoe UI"/>
              </a:rPr>
              <a:t>Starbem · Áreas de Atuação &amp; Impacto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AA7BD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2DD4BF"/>
                </a:solidFill>
                <a:latin typeface="Segoe UI"/>
              </a:rPr>
              <a:t>O QUE CONECTA TODAS AS ÁREAS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EAF0FB"/>
                </a:solidFill>
                <a:latin typeface="Segoe UI"/>
              </a:rPr>
              <a:t>Construí os times que sustentam a operação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700" b="1">
                <a:solidFill>
                  <a:srgbClr val="2DD4BF"/>
                </a:solidFill>
                <a:latin typeface="Segoe UI"/>
              </a:rPr>
              <a:t>15+ pessoas</a:t>
            </a:r>
            <a:r>
              <a:rPr sz="1600" b="0">
                <a:solidFill>
                  <a:srgbClr val="9AA7BD"/>
                </a:solidFill>
                <a:latin typeface="Segoe UI"/>
              </a:rPr>
              <a:t> contratadas e formadas em Tecnologia, Produto, Dados e Suporte. Por trás de cada área, um líder que estou desenvolvendo.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154680"/>
            <a:ext cx="1207008" cy="502920"/>
          </a:xfrm>
          <a:prstGeom prst="roundRect">
            <a:avLst>
              <a:gd name="adj" fmla="val 7000"/>
            </a:avLst>
          </a:prstGeom>
          <a:solidFill>
            <a:srgbClr val="18223A"/>
          </a:solidFill>
          <a:ln w="12700">
            <a:solidFill>
              <a:srgbClr val="2A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154680"/>
            <a:ext cx="120700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AF0FB"/>
                </a:solidFill>
                <a:latin typeface="Segoe UI"/>
              </a:rPr>
              <a:t>Barbara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76272" y="3154680"/>
            <a:ext cx="1207008" cy="502920"/>
          </a:xfrm>
          <a:prstGeom prst="roundRect">
            <a:avLst>
              <a:gd name="adj" fmla="val 7000"/>
            </a:avLst>
          </a:prstGeom>
          <a:solidFill>
            <a:srgbClr val="18223A"/>
          </a:solidFill>
          <a:ln w="12700">
            <a:solidFill>
              <a:srgbClr val="2A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76272" y="3154680"/>
            <a:ext cx="120700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AF0FB"/>
                </a:solidFill>
                <a:latin typeface="Segoe UI"/>
              </a:rPr>
              <a:t>Felipe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9584" y="3154680"/>
            <a:ext cx="1207008" cy="502920"/>
          </a:xfrm>
          <a:prstGeom prst="roundRect">
            <a:avLst>
              <a:gd name="adj" fmla="val 7000"/>
            </a:avLst>
          </a:prstGeom>
          <a:solidFill>
            <a:srgbClr val="18223A"/>
          </a:solidFill>
          <a:ln w="12700">
            <a:solidFill>
              <a:srgbClr val="2A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9584" y="3154680"/>
            <a:ext cx="120700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AF0FB"/>
                </a:solidFill>
                <a:latin typeface="Segoe UI"/>
              </a:rPr>
              <a:t>Tenório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82896" y="3154680"/>
            <a:ext cx="1207008" cy="502920"/>
          </a:xfrm>
          <a:prstGeom prst="roundRect">
            <a:avLst>
              <a:gd name="adj" fmla="val 7000"/>
            </a:avLst>
          </a:prstGeom>
          <a:solidFill>
            <a:srgbClr val="18223A"/>
          </a:solidFill>
          <a:ln w="12700">
            <a:solidFill>
              <a:srgbClr val="2A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82896" y="3154680"/>
            <a:ext cx="120700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AF0FB"/>
                </a:solidFill>
                <a:latin typeface="Segoe UI"/>
              </a:rPr>
              <a:t>Leo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3154680"/>
            <a:ext cx="1207008" cy="502920"/>
          </a:xfrm>
          <a:prstGeom prst="roundRect">
            <a:avLst>
              <a:gd name="adj" fmla="val 7000"/>
            </a:avLst>
          </a:prstGeom>
          <a:solidFill>
            <a:srgbClr val="18223A"/>
          </a:solidFill>
          <a:ln w="12700">
            <a:solidFill>
              <a:srgbClr val="2A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6208" y="3154680"/>
            <a:ext cx="120700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AF0FB"/>
                </a:solidFill>
                <a:latin typeface="Segoe UI"/>
              </a:rPr>
              <a:t>Rodrigo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0" y="3154680"/>
            <a:ext cx="1207008" cy="502920"/>
          </a:xfrm>
          <a:prstGeom prst="roundRect">
            <a:avLst>
              <a:gd name="adj" fmla="val 7000"/>
            </a:avLst>
          </a:prstGeom>
          <a:solidFill>
            <a:srgbClr val="18223A"/>
          </a:solidFill>
          <a:ln w="12700">
            <a:solidFill>
              <a:srgbClr val="2A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0" y="3154680"/>
            <a:ext cx="120700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AF0FB"/>
                </a:solidFill>
                <a:latin typeface="Segoe UI"/>
              </a:rPr>
              <a:t>Bruno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42832" y="3154680"/>
            <a:ext cx="1207008" cy="502920"/>
          </a:xfrm>
          <a:prstGeom prst="roundRect">
            <a:avLst>
              <a:gd name="adj" fmla="val 7000"/>
            </a:avLst>
          </a:prstGeom>
          <a:solidFill>
            <a:srgbClr val="18223A"/>
          </a:solidFill>
          <a:ln w="12700">
            <a:solidFill>
              <a:srgbClr val="2A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42832" y="3154680"/>
            <a:ext cx="120700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AF0FB"/>
                </a:solidFill>
                <a:latin typeface="Segoe UI"/>
              </a:rPr>
              <a:t>Vitor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822191"/>
            <a:ext cx="1207008" cy="502920"/>
          </a:xfrm>
          <a:prstGeom prst="roundRect">
            <a:avLst>
              <a:gd name="adj" fmla="val 7000"/>
            </a:avLst>
          </a:prstGeom>
          <a:solidFill>
            <a:srgbClr val="18223A"/>
          </a:solidFill>
          <a:ln w="12700">
            <a:solidFill>
              <a:srgbClr val="2A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822191"/>
            <a:ext cx="120700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AF0FB"/>
                </a:solidFill>
                <a:latin typeface="Segoe UI"/>
              </a:rPr>
              <a:t>Humberto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76272" y="3822191"/>
            <a:ext cx="1207008" cy="502920"/>
          </a:xfrm>
          <a:prstGeom prst="roundRect">
            <a:avLst>
              <a:gd name="adj" fmla="val 7000"/>
            </a:avLst>
          </a:prstGeom>
          <a:solidFill>
            <a:srgbClr val="18223A"/>
          </a:solidFill>
          <a:ln w="12700">
            <a:solidFill>
              <a:srgbClr val="2A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76272" y="3822191"/>
            <a:ext cx="120700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AF0FB"/>
                </a:solidFill>
                <a:latin typeface="Segoe UI"/>
              </a:rPr>
              <a:t>Mila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6634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600" b="0">
                <a:solidFill>
                  <a:srgbClr val="9AA7BD"/>
                </a:solidFill>
                <a:latin typeface="Segoe UI"/>
              </a:rPr>
              <a:t>Resultado: um salto na </a:t>
            </a:r>
            <a:r>
              <a:rPr sz="1600" b="1">
                <a:solidFill>
                  <a:srgbClr val="EAF0FB"/>
                </a:solidFill>
                <a:latin typeface="Segoe UI"/>
              </a:rPr>
              <a:t>qualidade percebida</a:t>
            </a:r>
            <a:r>
              <a:rPr sz="1600" b="0">
                <a:solidFill>
                  <a:srgbClr val="9AA7BD"/>
                </a:solidFill>
                <a:latin typeface="Segoe UI"/>
              </a:rPr>
              <a:t> do time — consistência e confiabilidade que hoje são referência interna.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9AA7BD"/>
                </a:solidFill>
                <a:latin typeface="Segoe UI"/>
              </a:rPr>
              <a:t>Starbem · Áreas de Atuação &amp; Impacto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AA7BD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2DD4BF"/>
                </a:solidFill>
                <a:latin typeface="Segoe UI"/>
              </a:rPr>
              <a:t>DESTAQUES DO PERÍODO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EAF0FB"/>
                </a:solidFill>
                <a:latin typeface="Segoe UI"/>
              </a:rPr>
              <a:t>Três entregas que mudaram o patamar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377440"/>
            <a:ext cx="3337560" cy="2468880"/>
          </a:xfrm>
          <a:prstGeom prst="roundRect">
            <a:avLst>
              <a:gd name="adj" fmla="val 7000"/>
            </a:avLst>
          </a:prstGeom>
          <a:solidFill>
            <a:srgbClr val="18223A"/>
          </a:solidFill>
          <a:ln w="12700">
            <a:solidFill>
              <a:srgbClr val="2A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697480"/>
            <a:ext cx="27889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DD4BF"/>
                </a:solidFill>
                <a:latin typeface="Segoe UI"/>
              </a:rPr>
              <a:t>R$30k → 100k</a:t>
            </a:r>
          </a:p>
          <a:p>
            <a:pPr>
              <a:lnSpc>
                <a:spcPct val="120000"/>
              </a:lnSpc>
              <a:spcBef>
                <a:spcPts val="1000"/>
              </a:spcBef>
            </a:pPr>
            <a:r>
              <a:rPr sz="1350" b="0">
                <a:solidFill>
                  <a:srgbClr val="9AA7BD"/>
                </a:solidFill>
                <a:latin typeface="Segoe UI"/>
              </a:rPr>
              <a:t>MRR do novo produto 100% IA, puxado por iFood e TotalPass México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2377440"/>
            <a:ext cx="3337560" cy="2468880"/>
          </a:xfrm>
          <a:prstGeom prst="roundRect">
            <a:avLst>
              <a:gd name="adj" fmla="val 7000"/>
            </a:avLst>
          </a:prstGeom>
          <a:solidFill>
            <a:srgbClr val="18223A"/>
          </a:solidFill>
          <a:ln w="12700">
            <a:solidFill>
              <a:srgbClr val="2A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00016" y="2697480"/>
            <a:ext cx="27889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DD4BF"/>
                </a:solidFill>
                <a:latin typeface="Segoe UI"/>
              </a:rPr>
              <a:t>15+</a:t>
            </a:r>
          </a:p>
          <a:p>
            <a:pPr>
              <a:lnSpc>
                <a:spcPct val="120000"/>
              </a:lnSpc>
              <a:spcBef>
                <a:spcPts val="1000"/>
              </a:spcBef>
            </a:pPr>
            <a:r>
              <a:rPr sz="1350" b="0">
                <a:solidFill>
                  <a:srgbClr val="9AA7BD"/>
                </a:solidFill>
                <a:latin typeface="Segoe UI"/>
              </a:rPr>
              <a:t>pessoas contratadas e formadas, com líderes em desenvolvimento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28431" y="2377440"/>
            <a:ext cx="3337560" cy="2468880"/>
          </a:xfrm>
          <a:prstGeom prst="roundRect">
            <a:avLst>
              <a:gd name="adj" fmla="val 7000"/>
            </a:avLst>
          </a:prstGeom>
          <a:solidFill>
            <a:srgbClr val="18223A"/>
          </a:solidFill>
          <a:ln w="12700">
            <a:solidFill>
              <a:srgbClr val="2A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02752" y="2697480"/>
            <a:ext cx="27889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DD4BF"/>
                </a:solidFill>
                <a:latin typeface="Segoe UI"/>
              </a:rPr>
              <a:t>~R$800k</a:t>
            </a:r>
          </a:p>
          <a:p>
            <a:pPr>
              <a:lnSpc>
                <a:spcPct val="120000"/>
              </a:lnSpc>
              <a:spcBef>
                <a:spcPts val="1000"/>
              </a:spcBef>
            </a:pPr>
            <a:r>
              <a:rPr sz="1350" b="0">
                <a:solidFill>
                  <a:srgbClr val="9AA7BD"/>
                </a:solidFill>
                <a:latin typeface="Segoe UI"/>
              </a:rPr>
              <a:t>de custo de nuvem evitado até dez/2026 (Azure → AWS + créditos)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2120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400" b="0">
                <a:solidFill>
                  <a:srgbClr val="9AA7BD"/>
                </a:solidFill>
                <a:latin typeface="Segoe UI"/>
              </a:rPr>
              <a:t>Além de receita habilitada em parcerias, risco mitigado em segurança e a base de dados pronta para decisões preditivas.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9AA7BD"/>
                </a:solidFill>
                <a:latin typeface="Segoe UI"/>
              </a:rPr>
              <a:t>Starbem · Áreas de Atuação &amp; Impacto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AA7BD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2DD4BF"/>
                </a:solidFill>
                <a:latin typeface="Segoe UI"/>
              </a:rPr>
              <a:t>PARA ONDE VAI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EAF0FB"/>
                </a:solidFill>
                <a:latin typeface="Segoe UI"/>
              </a:rPr>
              <a:t>Estratégia de produto com IA — próximos 12 meses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600" b="1">
                <a:solidFill>
                  <a:srgbClr val="2DD4BF"/>
                </a:solidFill>
                <a:latin typeface="Segoe UI"/>
              </a:rPr>
              <a:t>▪  </a:t>
            </a:r>
            <a:r>
              <a:rPr sz="1600" b="1">
                <a:solidFill>
                  <a:srgbClr val="EAF0FB"/>
                </a:solidFill>
                <a:latin typeface="Segoe UI"/>
              </a:rPr>
              <a:t>Produto 100% IA</a:t>
            </a:r>
            <a:r>
              <a:rPr sz="1600" b="0">
                <a:solidFill>
                  <a:srgbClr val="9AA7BD"/>
                </a:solidFill>
                <a:latin typeface="Segoe UI"/>
              </a:rPr>
              <a:t> em escala: de R$30k para </a:t>
            </a:r>
            <a:r>
              <a:rPr sz="1600" b="1">
                <a:solidFill>
                  <a:srgbClr val="EAF0FB"/>
                </a:solidFill>
                <a:latin typeface="Segoe UI"/>
              </a:rPr>
              <a:t>+R$100k de MRR</a:t>
            </a:r>
            <a:r>
              <a:rPr sz="1600" b="0">
                <a:solidFill>
                  <a:srgbClr val="9AA7BD"/>
                </a:solidFill>
                <a:latin typeface="Segoe UI"/>
              </a:rPr>
              <a:t>, com pipeline de parceiros (iFood, TotalPass México)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600" b="1">
                <a:solidFill>
                  <a:srgbClr val="2DD4BF"/>
                </a:solidFill>
                <a:latin typeface="Segoe UI"/>
              </a:rPr>
              <a:t>▪  </a:t>
            </a:r>
            <a:r>
              <a:rPr sz="1600" b="1">
                <a:solidFill>
                  <a:srgbClr val="EAF0FB"/>
                </a:solidFill>
                <a:latin typeface="Segoe UI"/>
              </a:rPr>
              <a:t>ExABI</a:t>
            </a:r>
            <a:r>
              <a:rPr sz="1600" b="0">
                <a:solidFill>
                  <a:srgbClr val="9AA7BD"/>
                </a:solidFill>
                <a:latin typeface="Segoe UI"/>
              </a:rPr>
              <a:t> — camada agêntica da Starbem como diferencial competitivo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600" b="1">
                <a:solidFill>
                  <a:srgbClr val="2DD4BF"/>
                </a:solidFill>
                <a:latin typeface="Segoe UI"/>
              </a:rPr>
              <a:t>▪  </a:t>
            </a:r>
            <a:r>
              <a:rPr sz="1600" b="1">
                <a:solidFill>
                  <a:srgbClr val="EAF0FB"/>
                </a:solidFill>
                <a:latin typeface="Segoe UI"/>
              </a:rPr>
              <a:t>StarBrain</a:t>
            </a:r>
            <a:r>
              <a:rPr sz="1600" b="0">
                <a:solidFill>
                  <a:srgbClr val="9AA7BD"/>
                </a:solidFill>
                <a:latin typeface="Segoe UI"/>
              </a:rPr>
              <a:t> retroalimentado por dados: visão unificada de paciente e profissional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600" b="1">
                <a:solidFill>
                  <a:srgbClr val="2DD4BF"/>
                </a:solidFill>
                <a:latin typeface="Segoe UI"/>
              </a:rPr>
              <a:t>▪  </a:t>
            </a:r>
            <a:r>
              <a:rPr sz="1600" b="1">
                <a:solidFill>
                  <a:srgbClr val="EAF0FB"/>
                </a:solidFill>
                <a:latin typeface="Segoe UI"/>
              </a:rPr>
              <a:t>Datalake preditivo</a:t>
            </a:r>
            <a:r>
              <a:rPr sz="1600" b="0">
                <a:solidFill>
                  <a:srgbClr val="9AA7BD"/>
                </a:solidFill>
                <a:latin typeface="Segoe UI"/>
              </a:rPr>
              <a:t> ligando dados a impacto financeiro do negócio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600" b="1">
                <a:solidFill>
                  <a:srgbClr val="2DD4BF"/>
                </a:solidFill>
                <a:latin typeface="Segoe UI"/>
              </a:rPr>
              <a:t>▪  </a:t>
            </a:r>
            <a:r>
              <a:rPr sz="1600" b="1">
                <a:solidFill>
                  <a:srgbClr val="EAF0FB"/>
                </a:solidFill>
                <a:latin typeface="Segoe UI"/>
              </a:rPr>
              <a:t>Tiny Teams</a:t>
            </a:r>
            <a:r>
              <a:rPr sz="1600" b="0">
                <a:solidFill>
                  <a:srgbClr val="9AA7BD"/>
                </a:solidFill>
                <a:latin typeface="Segoe UI"/>
              </a:rPr>
              <a:t>: fazer mais com menos, escalando operação com 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9AA7BD"/>
                </a:solidFill>
                <a:latin typeface="Segoe UI"/>
              </a:rPr>
              <a:t>Starbem · Áreas de Atuação &amp; Impacto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AA7BD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2DD4BF"/>
                </a:solidFill>
                <a:latin typeface="Segoe UI"/>
              </a:rPr>
              <a:t>EM RESUMO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EAF0FB"/>
                </a:solidFill>
                <a:latin typeface="Segoe UI"/>
              </a:rPr>
              <a:t>Uma visão consolidada — pronta para discutir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700" b="0">
                <a:solidFill>
                  <a:srgbClr val="9AA7BD"/>
                </a:solidFill>
                <a:latin typeface="Segoe UI"/>
              </a:rPr>
              <a:t>Seis áreas de atuação, 15+ pessoas formadas, um produto de IA em crescimento acelerado e uma operação mais barata e mais confiável. Trouxe esse panorama para darmos visibilidade ao todo e </a:t>
            </a:r>
            <a:r>
              <a:rPr sz="1700" b="1">
                <a:solidFill>
                  <a:srgbClr val="EAF0FB"/>
                </a:solidFill>
                <a:latin typeface="Segoe UI"/>
              </a:rPr>
              <a:t>discutirmos juntos os próximos passos de cada frente.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206240"/>
            <a:ext cx="1828800" cy="502920"/>
          </a:xfrm>
          <a:prstGeom prst="roundRect">
            <a:avLst>
              <a:gd name="adj" fmla="val 7000"/>
            </a:avLst>
          </a:prstGeom>
          <a:solidFill>
            <a:srgbClr val="18223A"/>
          </a:solidFill>
          <a:ln w="12700">
            <a:solidFill>
              <a:srgbClr val="2A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206240"/>
            <a:ext cx="1828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EAF0FB"/>
                </a:solidFill>
                <a:latin typeface="Segoe UI"/>
              </a:rPr>
              <a:t>Customer Success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40" y="4206240"/>
            <a:ext cx="964692" cy="502920"/>
          </a:xfrm>
          <a:prstGeom prst="roundRect">
            <a:avLst>
              <a:gd name="adj" fmla="val 7000"/>
            </a:avLst>
          </a:prstGeom>
          <a:solidFill>
            <a:srgbClr val="18223A"/>
          </a:solidFill>
          <a:ln w="12700">
            <a:solidFill>
              <a:srgbClr val="2A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34640" y="4206240"/>
            <a:ext cx="96469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EAF0FB"/>
                </a:solidFill>
                <a:latin typeface="Segoe UI"/>
              </a:rPr>
              <a:t>Produto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82212" y="4206240"/>
            <a:ext cx="1252728" cy="502920"/>
          </a:xfrm>
          <a:prstGeom prst="roundRect">
            <a:avLst>
              <a:gd name="adj" fmla="val 7000"/>
            </a:avLst>
          </a:prstGeom>
          <a:solidFill>
            <a:srgbClr val="18223A"/>
          </a:solidFill>
          <a:ln w="12700">
            <a:solidFill>
              <a:srgbClr val="2A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82212" y="4206240"/>
            <a:ext cx="125272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EAF0FB"/>
                </a:solidFill>
                <a:latin typeface="Segoe UI"/>
              </a:rPr>
              <a:t>Engenharia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17820" y="4206240"/>
            <a:ext cx="772668" cy="502920"/>
          </a:xfrm>
          <a:prstGeom prst="roundRect">
            <a:avLst>
              <a:gd name="adj" fmla="val 7000"/>
            </a:avLst>
          </a:prstGeom>
          <a:solidFill>
            <a:srgbClr val="18223A"/>
          </a:solidFill>
          <a:ln w="12700">
            <a:solidFill>
              <a:srgbClr val="2A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17820" y="4206240"/>
            <a:ext cx="77266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EAF0FB"/>
                </a:solidFill>
                <a:latin typeface="Segoe UI"/>
              </a:rPr>
              <a:t>Dados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73368" y="4206240"/>
            <a:ext cx="1444752" cy="502920"/>
          </a:xfrm>
          <a:prstGeom prst="roundRect">
            <a:avLst>
              <a:gd name="adj" fmla="val 7000"/>
            </a:avLst>
          </a:prstGeom>
          <a:solidFill>
            <a:srgbClr val="18223A"/>
          </a:solidFill>
          <a:ln w="12700">
            <a:solidFill>
              <a:srgbClr val="2A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4206240"/>
            <a:ext cx="144475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EAF0FB"/>
                </a:solidFill>
                <a:latin typeface="Segoe UI"/>
              </a:rPr>
              <a:t>IT &amp; Suporte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4206240"/>
            <a:ext cx="2116836" cy="502920"/>
          </a:xfrm>
          <a:prstGeom prst="roundRect">
            <a:avLst>
              <a:gd name="adj" fmla="val 7000"/>
            </a:avLst>
          </a:prstGeom>
          <a:solidFill>
            <a:srgbClr val="18223A"/>
          </a:solidFill>
          <a:ln w="12700">
            <a:solidFill>
              <a:srgbClr val="2A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1000" y="4206240"/>
            <a:ext cx="2116836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EAF0FB"/>
                </a:solidFill>
                <a:latin typeface="Segoe UI"/>
              </a:rPr>
              <a:t>Arquitetura &amp; Nuvem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846320"/>
            <a:ext cx="1924812" cy="502920"/>
          </a:xfrm>
          <a:prstGeom prst="roundRect">
            <a:avLst>
              <a:gd name="adj" fmla="val 7000"/>
            </a:avLst>
          </a:prstGeom>
          <a:solidFill>
            <a:srgbClr val="18223A"/>
          </a:solidFill>
          <a:ln w="12700">
            <a:solidFill>
              <a:srgbClr val="2A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846320"/>
            <a:ext cx="192481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EAF0FB"/>
                </a:solidFill>
                <a:latin typeface="Segoe UI"/>
              </a:rPr>
              <a:t>Times &amp; Liderança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9AA7BD"/>
                </a:solidFill>
                <a:latin typeface="Segoe UI"/>
              </a:rPr>
              <a:t>Starbem · Áreas de Atuação &amp; Impacto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AA7BD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